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5" autoAdjust="0"/>
    <p:restoredTop sz="94660"/>
  </p:normalViewPr>
  <p:slideViewPr>
    <p:cSldViewPr snapToGrid="0">
      <p:cViewPr varScale="1">
        <p:scale>
          <a:sx n="93" d="100"/>
          <a:sy n="93" d="100"/>
        </p:scale>
        <p:origin x="77" y="2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78278D6-9A37-4104-ADBF-2333A6E1BD42}" type="datetimeFigureOut">
              <a:rPr lang="ru-RU" smtClean="0"/>
              <a:t>12.05.2026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4BD5ADA-13A0-49E3-AAFC-45FB28CB797E}" type="slidenum">
              <a:rPr lang="ru-RU" smtClean="0"/>
              <a:t>‹#›</a:t>
            </a:fld>
            <a:endParaRPr lang="ru-RU"/>
          </a:p>
        </p:txBody>
      </p:sp>
    </p:spTree>
    <p:extLst>
      <p:ext uri="{BB962C8B-B14F-4D97-AF65-F5344CB8AC3E}">
        <p14:creationId xmlns:p14="http://schemas.microsoft.com/office/powerpoint/2010/main" val="3802197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78278D6-9A37-4104-ADBF-2333A6E1BD42}" type="datetimeFigureOut">
              <a:rPr lang="ru-RU" smtClean="0"/>
              <a:t>12.05.2026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4BD5ADA-13A0-49E3-AAFC-45FB28CB797E}" type="slidenum">
              <a:rPr lang="ru-RU" smtClean="0"/>
              <a:t>‹#›</a:t>
            </a:fld>
            <a:endParaRPr lang="ru-RU"/>
          </a:p>
        </p:txBody>
      </p:sp>
    </p:spTree>
    <p:extLst>
      <p:ext uri="{BB962C8B-B14F-4D97-AF65-F5344CB8AC3E}">
        <p14:creationId xmlns:p14="http://schemas.microsoft.com/office/powerpoint/2010/main" val="2903057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78278D6-9A37-4104-ADBF-2333A6E1BD42}" type="datetimeFigureOut">
              <a:rPr lang="ru-RU" smtClean="0"/>
              <a:t>12.05.2026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4BD5ADA-13A0-49E3-AAFC-45FB28CB797E}" type="slidenum">
              <a:rPr lang="ru-RU" smtClean="0"/>
              <a:t>‹#›</a:t>
            </a:fld>
            <a:endParaRPr lang="ru-RU"/>
          </a:p>
        </p:txBody>
      </p:sp>
    </p:spTree>
    <p:extLst>
      <p:ext uri="{BB962C8B-B14F-4D97-AF65-F5344CB8AC3E}">
        <p14:creationId xmlns:p14="http://schemas.microsoft.com/office/powerpoint/2010/main" val="439056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78278D6-9A37-4104-ADBF-2333A6E1BD42}" type="datetimeFigureOut">
              <a:rPr lang="ru-RU" smtClean="0"/>
              <a:t>12.05.2026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64BD5ADA-13A0-49E3-AAFC-45FB28CB797E}" type="slidenum">
              <a:rPr lang="ru-RU" smtClean="0"/>
              <a:t>‹#›</a:t>
            </a:fld>
            <a:endParaRPr lang="ru-RU"/>
          </a:p>
        </p:txBody>
      </p:sp>
    </p:spTree>
    <p:extLst>
      <p:ext uri="{BB962C8B-B14F-4D97-AF65-F5344CB8AC3E}">
        <p14:creationId xmlns:p14="http://schemas.microsoft.com/office/powerpoint/2010/main" val="2959476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78278D6-9A37-4104-ADBF-2333A6E1BD42}" type="datetimeFigureOut">
              <a:rPr lang="ru-RU" smtClean="0"/>
              <a:t>12.05.2026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64BD5ADA-13A0-49E3-AAFC-45FB28CB797E}" type="slidenum">
              <a:rPr lang="ru-RU" smtClean="0"/>
              <a:t>‹#›</a:t>
            </a:fld>
            <a:endParaRPr lang="ru-RU"/>
          </a:p>
        </p:txBody>
      </p:sp>
    </p:spTree>
    <p:extLst>
      <p:ext uri="{BB962C8B-B14F-4D97-AF65-F5344CB8AC3E}">
        <p14:creationId xmlns:p14="http://schemas.microsoft.com/office/powerpoint/2010/main" val="2094647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78278D6-9A37-4104-ADBF-2333A6E1BD42}" type="datetimeFigureOut">
              <a:rPr lang="ru-RU" smtClean="0"/>
              <a:t>12.05.2026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64BD5ADA-13A0-49E3-AAFC-45FB28CB797E}" type="slidenum">
              <a:rPr lang="ru-RU" smtClean="0"/>
              <a:t>‹#›</a:t>
            </a:fld>
            <a:endParaRPr lang="ru-RU"/>
          </a:p>
        </p:txBody>
      </p:sp>
    </p:spTree>
    <p:extLst>
      <p:ext uri="{BB962C8B-B14F-4D97-AF65-F5344CB8AC3E}">
        <p14:creationId xmlns:p14="http://schemas.microsoft.com/office/powerpoint/2010/main" val="1986408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78278D6-9A37-4104-ADBF-2333A6E1BD42}" type="datetimeFigureOut">
              <a:rPr lang="ru-RU" smtClean="0"/>
              <a:t>12.05.2026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64BD5ADA-13A0-49E3-AAFC-45FB28CB797E}" type="slidenum">
              <a:rPr lang="ru-RU" smtClean="0"/>
              <a:t>‹#›</a:t>
            </a:fld>
            <a:endParaRPr lang="ru-RU"/>
          </a:p>
        </p:txBody>
      </p:sp>
    </p:spTree>
    <p:extLst>
      <p:ext uri="{BB962C8B-B14F-4D97-AF65-F5344CB8AC3E}">
        <p14:creationId xmlns:p14="http://schemas.microsoft.com/office/powerpoint/2010/main" val="3689372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A78278D6-9A37-4104-ADBF-2333A6E1BD42}" type="datetimeFigureOut">
              <a:rPr lang="ru-RU" smtClean="0"/>
              <a:t>12.05.2026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64BD5ADA-13A0-49E3-AAFC-45FB28CB797E}" type="slidenum">
              <a:rPr lang="ru-RU" smtClean="0"/>
              <a:t>‹#›</a:t>
            </a:fld>
            <a:endParaRPr lang="ru-RU"/>
          </a:p>
        </p:txBody>
      </p:sp>
    </p:spTree>
    <p:extLst>
      <p:ext uri="{BB962C8B-B14F-4D97-AF65-F5344CB8AC3E}">
        <p14:creationId xmlns:p14="http://schemas.microsoft.com/office/powerpoint/2010/main" val="28743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A78278D6-9A37-4104-ADBF-2333A6E1BD42}" type="datetimeFigureOut">
              <a:rPr lang="ru-RU" smtClean="0"/>
              <a:t>12.05.2026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64BD5ADA-13A0-49E3-AAFC-45FB28CB797E}" type="slidenum">
              <a:rPr lang="ru-RU" smtClean="0"/>
              <a:t>‹#›</a:t>
            </a:fld>
            <a:endParaRPr lang="ru-RU"/>
          </a:p>
        </p:txBody>
      </p:sp>
    </p:spTree>
    <p:extLst>
      <p:ext uri="{BB962C8B-B14F-4D97-AF65-F5344CB8AC3E}">
        <p14:creationId xmlns:p14="http://schemas.microsoft.com/office/powerpoint/2010/main" val="3172695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78278D6-9A37-4104-ADBF-2333A6E1BD42}" type="datetimeFigureOut">
              <a:rPr lang="ru-RU" smtClean="0"/>
              <a:t>12.05.2026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4BD5ADA-13A0-49E3-AAFC-45FB28CB797E}" type="slidenum">
              <a:rPr lang="ru-RU" smtClean="0"/>
              <a:t>‹#›</a:t>
            </a:fld>
            <a:endParaRPr lang="ru-RU"/>
          </a:p>
        </p:txBody>
      </p:sp>
    </p:spTree>
    <p:extLst>
      <p:ext uri="{BB962C8B-B14F-4D97-AF65-F5344CB8AC3E}">
        <p14:creationId xmlns:p14="http://schemas.microsoft.com/office/powerpoint/2010/main" val="4275051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78278D6-9A37-4104-ADBF-2333A6E1BD42}" type="datetimeFigureOut">
              <a:rPr lang="ru-RU" smtClean="0"/>
              <a:t>12.05.2026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4BD5ADA-13A0-49E3-AAFC-45FB28CB797E}" type="slidenum">
              <a:rPr lang="ru-RU" smtClean="0"/>
              <a:t>‹#›</a:t>
            </a:fld>
            <a:endParaRPr lang="ru-RU"/>
          </a:p>
        </p:txBody>
      </p:sp>
    </p:spTree>
    <p:extLst>
      <p:ext uri="{BB962C8B-B14F-4D97-AF65-F5344CB8AC3E}">
        <p14:creationId xmlns:p14="http://schemas.microsoft.com/office/powerpoint/2010/main" val="2235127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8278D6-9A37-4104-ADBF-2333A6E1BD42}" type="datetimeFigureOut">
              <a:rPr lang="ru-RU" smtClean="0"/>
              <a:t>12.05.2026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BD5ADA-13A0-49E3-AAFC-45FB28CB797E}" type="slidenum">
              <a:rPr lang="ru-RU" smtClean="0"/>
              <a:t>‹#›</a:t>
            </a:fld>
            <a:endParaRPr lang="ru-RU"/>
          </a:p>
        </p:txBody>
      </p:sp>
    </p:spTree>
    <p:extLst>
      <p:ext uri="{BB962C8B-B14F-4D97-AF65-F5344CB8AC3E}">
        <p14:creationId xmlns:p14="http://schemas.microsoft.com/office/powerpoint/2010/main" val="488937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LunaTMT/Doodle-Jump" TargetMode="External"/><Relationship Id="rId2" Type="http://schemas.openxmlformats.org/officeDocument/2006/relationships/hyperlink" Target="https://github.com/whtspcc/doodle_jump_java" TargetMode="External"/><Relationship Id="rId1" Type="http://schemas.openxmlformats.org/officeDocument/2006/relationships/slideLayout" Target="../slideLayouts/slideLayout2.xml"/><Relationship Id="rId4" Type="http://schemas.openxmlformats.org/officeDocument/2006/relationships/hyperlink" Target="https://www.spriters-resource.com/mobile/doodlejum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flipH="1">
            <a:off x="3809165" y="1645173"/>
            <a:ext cx="5296303" cy="584775"/>
          </a:xfrm>
          <a:prstGeom prst="rect">
            <a:avLst/>
          </a:prstGeom>
          <a:noFill/>
        </p:spPr>
        <p:txBody>
          <a:bodyPr wrap="square" rtlCol="0">
            <a:spAutoFit/>
          </a:bodyPr>
          <a:lstStyle/>
          <a:p>
            <a:r>
              <a:rPr lang="en-US" sz="3200" dirty="0" smtClean="0">
                <a:latin typeface="Bell MT" panose="02020503060305020303" pitchFamily="18" charset="0"/>
              </a:rPr>
              <a:t>Doodle Jump (Java Edition)</a:t>
            </a:r>
            <a:endParaRPr lang="ru-RU" sz="3200" dirty="0"/>
          </a:p>
        </p:txBody>
      </p:sp>
      <p:sp>
        <p:nvSpPr>
          <p:cNvPr id="5" name="TextBox 4"/>
          <p:cNvSpPr txBox="1"/>
          <p:nvPr/>
        </p:nvSpPr>
        <p:spPr>
          <a:xfrm>
            <a:off x="9031705" y="5518484"/>
            <a:ext cx="2999873" cy="646331"/>
          </a:xfrm>
          <a:prstGeom prst="rect">
            <a:avLst/>
          </a:prstGeom>
          <a:noFill/>
        </p:spPr>
        <p:txBody>
          <a:bodyPr wrap="square" rtlCol="0">
            <a:spAutoFit/>
          </a:bodyPr>
          <a:lstStyle/>
          <a:p>
            <a:r>
              <a:rPr lang="ru-RU" dirty="0" smtClean="0">
                <a:latin typeface="Book Antiqua" panose="02040602050305030304" pitchFamily="18" charset="0"/>
              </a:rPr>
              <a:t>Выполнил:</a:t>
            </a:r>
          </a:p>
          <a:p>
            <a:r>
              <a:rPr lang="ru-RU" dirty="0" smtClean="0">
                <a:latin typeface="Book Antiqua" panose="02040602050305030304" pitchFamily="18" charset="0"/>
              </a:rPr>
              <a:t>Власенко Иван ПИбд-12</a:t>
            </a:r>
            <a:endParaRPr lang="ru-RU" dirty="0">
              <a:latin typeface="Book Antiqua" panose="02040602050305030304" pitchFamily="18" charset="0"/>
            </a:endParaRPr>
          </a:p>
        </p:txBody>
      </p:sp>
      <p:pic>
        <p:nvPicPr>
          <p:cNvPr id="1026" name="Picture 2" descr="Doodle Jump — обзоры и отзывы, описание, дата выхода, официальный сайт  игры, системные требования и оценки игроков | StopGa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165" y="2923506"/>
            <a:ext cx="2667000" cy="2667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Введение в язык программирования Java / Песочница / Хабр"/>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8589" y="2583459"/>
            <a:ext cx="3652754" cy="2581514"/>
          </a:xfrm>
          <a:prstGeom prst="rect">
            <a:avLst/>
          </a:prstGeom>
          <a:noFill/>
          <a:extLst>
            <a:ext uri="{909E8E84-426E-40DD-AFC4-6F175D3DCCD1}">
              <a14:hiddenFill xmlns:a14="http://schemas.microsoft.com/office/drawing/2010/main">
                <a:solidFill>
                  <a:srgbClr val="FFFFFF"/>
                </a:solidFill>
              </a14:hiddenFill>
            </a:ext>
          </a:extLst>
        </p:spPr>
      </p:pic>
      <p:pic>
        <p:nvPicPr>
          <p:cNvPr id="6" name="Рисунок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0192529" flipH="1" flipV="1">
            <a:off x="4078490" y="5412364"/>
            <a:ext cx="1821211" cy="858570"/>
          </a:xfrm>
          <a:prstGeom prst="rect">
            <a:avLst/>
          </a:prstGeom>
        </p:spPr>
      </p:pic>
    </p:spTree>
    <p:extLst>
      <p:ext uri="{BB962C8B-B14F-4D97-AF65-F5344CB8AC3E}">
        <p14:creationId xmlns:p14="http://schemas.microsoft.com/office/powerpoint/2010/main" val="1761049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88169" y="681789"/>
            <a:ext cx="2534652" cy="523220"/>
          </a:xfrm>
          <a:prstGeom prst="rect">
            <a:avLst/>
          </a:prstGeom>
          <a:noFill/>
        </p:spPr>
        <p:txBody>
          <a:bodyPr wrap="square" rtlCol="0">
            <a:spAutoFit/>
          </a:bodyPr>
          <a:lstStyle/>
          <a:p>
            <a:r>
              <a:rPr lang="ru-RU" sz="2800" dirty="0" smtClean="0">
                <a:latin typeface="Book Antiqua" panose="02040602050305030304" pitchFamily="18" charset="0"/>
              </a:rPr>
              <a:t>Концепция</a:t>
            </a:r>
            <a:endParaRPr lang="ru-RU" sz="2800" dirty="0">
              <a:latin typeface="Book Antiqua" panose="02040602050305030304" pitchFamily="18" charset="0"/>
            </a:endParaRPr>
          </a:p>
        </p:txBody>
      </p:sp>
      <p:sp>
        <p:nvSpPr>
          <p:cNvPr id="5" name="TextBox 4"/>
          <p:cNvSpPr txBox="1"/>
          <p:nvPr/>
        </p:nvSpPr>
        <p:spPr>
          <a:xfrm>
            <a:off x="1588169" y="2494330"/>
            <a:ext cx="6152147" cy="1477328"/>
          </a:xfrm>
          <a:prstGeom prst="rect">
            <a:avLst/>
          </a:prstGeom>
          <a:noFill/>
        </p:spPr>
        <p:txBody>
          <a:bodyPr wrap="square" rtlCol="0">
            <a:spAutoFit/>
          </a:bodyPr>
          <a:lstStyle/>
          <a:p>
            <a:r>
              <a:rPr lang="ru-RU" dirty="0" smtClean="0">
                <a:latin typeface="Book Antiqua" panose="02040602050305030304" pitchFamily="18" charset="0"/>
              </a:rPr>
              <a:t>Описание: Аркадный </a:t>
            </a:r>
            <a:r>
              <a:rPr lang="ru-RU" dirty="0" err="1" smtClean="0">
                <a:latin typeface="Book Antiqua" panose="02040602050305030304" pitchFamily="18" charset="0"/>
              </a:rPr>
              <a:t>платформер</a:t>
            </a:r>
            <a:r>
              <a:rPr lang="ru-RU" dirty="0" smtClean="0">
                <a:latin typeface="Book Antiqua" panose="02040602050305030304" pitchFamily="18" charset="0"/>
              </a:rPr>
              <a:t>, где цель – подняться как можно выше, прыгая по платформам</a:t>
            </a:r>
          </a:p>
          <a:p>
            <a:endParaRPr lang="ru-RU" dirty="0">
              <a:latin typeface="Book Antiqua" panose="02040602050305030304" pitchFamily="18" charset="0"/>
            </a:endParaRPr>
          </a:p>
          <a:p>
            <a:r>
              <a:rPr lang="ru-RU" dirty="0" err="1" smtClean="0">
                <a:latin typeface="Book Antiqua" panose="02040602050305030304" pitchFamily="18" charset="0"/>
              </a:rPr>
              <a:t>Геймплей</a:t>
            </a:r>
            <a:r>
              <a:rPr lang="ru-RU" dirty="0" smtClean="0">
                <a:latin typeface="Book Antiqua" panose="02040602050305030304" pitchFamily="18" charset="0"/>
              </a:rPr>
              <a:t>: Игрок управляет персонажем, который автоматически прыгает вверх</a:t>
            </a:r>
            <a:r>
              <a:rPr lang="ru-RU" dirty="0" smtClean="0">
                <a:latin typeface="Book Antiqua" panose="02040602050305030304" pitchFamily="18" charset="0"/>
              </a:rPr>
              <a:t>.</a:t>
            </a:r>
            <a:endParaRPr lang="ru-RU" dirty="0">
              <a:latin typeface="Book Antiqua" panose="02040602050305030304" pitchFamily="18" charset="0"/>
            </a:endParaRPr>
          </a:p>
        </p:txBody>
      </p:sp>
      <p:pic>
        <p:nvPicPr>
          <p:cNvPr id="2052" name="Picture 4" descr="https://i.pinimg.com/736x/32/f6/ea/32f6ea3ecdbfc7b938fbc440973cc44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2549" y="2702011"/>
            <a:ext cx="3780167" cy="3780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4557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89903" y="741406"/>
            <a:ext cx="2751437" cy="523220"/>
          </a:xfrm>
          <a:prstGeom prst="rect">
            <a:avLst/>
          </a:prstGeom>
          <a:noFill/>
        </p:spPr>
        <p:txBody>
          <a:bodyPr wrap="square" rtlCol="0">
            <a:spAutoFit/>
          </a:bodyPr>
          <a:lstStyle/>
          <a:p>
            <a:r>
              <a:rPr lang="ru-RU" sz="2800" dirty="0" smtClean="0">
                <a:latin typeface="Book Antiqua" panose="02040602050305030304" pitchFamily="18" charset="0"/>
              </a:rPr>
              <a:t>Основные окна</a:t>
            </a:r>
            <a:endParaRPr lang="ru-RU" sz="2800" dirty="0">
              <a:latin typeface="Book Antiqua" panose="02040602050305030304" pitchFamily="18" charset="0"/>
            </a:endParaRPr>
          </a:p>
        </p:txBody>
      </p:sp>
      <p:sp>
        <p:nvSpPr>
          <p:cNvPr id="5" name="TextBox 4"/>
          <p:cNvSpPr txBox="1"/>
          <p:nvPr/>
        </p:nvSpPr>
        <p:spPr>
          <a:xfrm flipH="1">
            <a:off x="1589903" y="1264626"/>
            <a:ext cx="8216832" cy="276999"/>
          </a:xfrm>
          <a:prstGeom prst="rect">
            <a:avLst/>
          </a:prstGeom>
          <a:noFill/>
        </p:spPr>
        <p:txBody>
          <a:bodyPr wrap="square" rtlCol="0">
            <a:spAutoFit/>
          </a:bodyPr>
          <a:lstStyle/>
          <a:p>
            <a:r>
              <a:rPr lang="ru-RU" sz="1200" dirty="0" smtClean="0">
                <a:latin typeface="Book Antiqua" panose="02040602050305030304" pitchFamily="18" charset="0"/>
              </a:rPr>
              <a:t>В проекте реализована система переключения экранов через </a:t>
            </a:r>
            <a:r>
              <a:rPr lang="en-US" sz="1200" dirty="0" err="1" smtClean="0">
                <a:latin typeface="Book Antiqua" panose="02040602050305030304" pitchFamily="18" charset="0"/>
              </a:rPr>
              <a:t>CardLayout</a:t>
            </a:r>
            <a:endParaRPr lang="ru-RU" sz="1200" dirty="0">
              <a:latin typeface="Book Antiqua" panose="02040602050305030304" pitchFamily="18" charset="0"/>
            </a:endParaRPr>
          </a:p>
        </p:txBody>
      </p:sp>
      <p:sp>
        <p:nvSpPr>
          <p:cNvPr id="6" name="TextBox 5"/>
          <p:cNvSpPr txBox="1"/>
          <p:nvPr/>
        </p:nvSpPr>
        <p:spPr>
          <a:xfrm>
            <a:off x="2594918" y="2064845"/>
            <a:ext cx="7937157" cy="2800767"/>
          </a:xfrm>
          <a:prstGeom prst="rect">
            <a:avLst/>
          </a:prstGeom>
          <a:noFill/>
        </p:spPr>
        <p:txBody>
          <a:bodyPr wrap="square" rtlCol="0">
            <a:spAutoFit/>
          </a:bodyPr>
          <a:lstStyle/>
          <a:p>
            <a:r>
              <a:rPr lang="ru-RU" sz="1600" dirty="0" smtClean="0">
                <a:latin typeface="Book Antiqua" panose="02040602050305030304" pitchFamily="18" charset="0"/>
              </a:rPr>
              <a:t>Главное меню – анимированный фон, кнопки «</a:t>
            </a:r>
            <a:r>
              <a:rPr lang="en-US" sz="1600" dirty="0" smtClean="0">
                <a:latin typeface="Book Antiqua" panose="02040602050305030304" pitchFamily="18" charset="0"/>
              </a:rPr>
              <a:t>Play</a:t>
            </a:r>
            <a:r>
              <a:rPr lang="ru-RU" sz="1600" dirty="0" smtClean="0">
                <a:latin typeface="Book Antiqua" panose="02040602050305030304" pitchFamily="18" charset="0"/>
              </a:rPr>
              <a:t>» и «</a:t>
            </a:r>
            <a:r>
              <a:rPr lang="en-US" sz="1600" dirty="0" smtClean="0">
                <a:latin typeface="Book Antiqua" panose="02040602050305030304" pitchFamily="18" charset="0"/>
              </a:rPr>
              <a:t>Settings</a:t>
            </a:r>
            <a:r>
              <a:rPr lang="ru-RU" sz="1600" dirty="0" smtClean="0">
                <a:latin typeface="Book Antiqua" panose="02040602050305030304" pitchFamily="18" charset="0"/>
              </a:rPr>
              <a:t>». Класс: </a:t>
            </a:r>
            <a:r>
              <a:rPr lang="en-US" sz="1600" dirty="0" err="1" smtClean="0">
                <a:latin typeface="Book Antiqua" panose="02040602050305030304" pitchFamily="18" charset="0"/>
              </a:rPr>
              <a:t>MenuPanel</a:t>
            </a:r>
            <a:endParaRPr lang="ru-RU" sz="1600" dirty="0" smtClean="0">
              <a:latin typeface="Book Antiqua" panose="02040602050305030304" pitchFamily="18" charset="0"/>
            </a:endParaRPr>
          </a:p>
          <a:p>
            <a:endParaRPr lang="ru-RU" sz="1600" dirty="0" smtClean="0">
              <a:latin typeface="Book Antiqua" panose="02040602050305030304" pitchFamily="18" charset="0"/>
            </a:endParaRPr>
          </a:p>
          <a:p>
            <a:r>
              <a:rPr lang="ru-RU" sz="1600" dirty="0" smtClean="0">
                <a:latin typeface="Book Antiqua" panose="02040602050305030304" pitchFamily="18" charset="0"/>
              </a:rPr>
              <a:t>Игровое поле – основное пространство с динамической камерой и игровыми объектами</a:t>
            </a:r>
            <a:r>
              <a:rPr lang="ru-RU" sz="1600" dirty="0" smtClean="0">
                <a:latin typeface="Book Antiqua" panose="02040602050305030304" pitchFamily="18" charset="0"/>
              </a:rPr>
              <a:t>. Класс: </a:t>
            </a:r>
            <a:r>
              <a:rPr lang="en-US" sz="1600" dirty="0" err="1" smtClean="0">
                <a:latin typeface="Book Antiqua" panose="02040602050305030304" pitchFamily="18" charset="0"/>
              </a:rPr>
              <a:t>GamePanel</a:t>
            </a:r>
            <a:endParaRPr lang="ru-RU" sz="1600" dirty="0" smtClean="0">
              <a:latin typeface="Book Antiqua" panose="02040602050305030304" pitchFamily="18" charset="0"/>
            </a:endParaRPr>
          </a:p>
          <a:p>
            <a:endParaRPr lang="ru-RU" sz="1600" dirty="0" smtClean="0">
              <a:latin typeface="Book Antiqua" panose="02040602050305030304" pitchFamily="18" charset="0"/>
            </a:endParaRPr>
          </a:p>
          <a:p>
            <a:r>
              <a:rPr lang="ru-RU" sz="1600" dirty="0" smtClean="0">
                <a:latin typeface="Book Antiqua" panose="02040602050305030304" pitchFamily="18" charset="0"/>
              </a:rPr>
              <a:t>Экран настроек – задел под регулировку звука</a:t>
            </a:r>
            <a:r>
              <a:rPr lang="en-US" sz="1600" dirty="0">
                <a:latin typeface="Book Antiqua" panose="02040602050305030304" pitchFamily="18" charset="0"/>
              </a:rPr>
              <a:t> </a:t>
            </a:r>
            <a:r>
              <a:rPr lang="en-US" sz="1600" dirty="0" smtClean="0">
                <a:latin typeface="Book Antiqua" panose="02040602050305030304" pitchFamily="18" charset="0"/>
              </a:rPr>
              <a:t>/</a:t>
            </a:r>
            <a:r>
              <a:rPr lang="ru-RU" sz="1600" dirty="0" smtClean="0">
                <a:latin typeface="Book Antiqua" panose="02040602050305030304" pitchFamily="18" charset="0"/>
              </a:rPr>
              <a:t> сложности (пока не реализовано</a:t>
            </a:r>
            <a:r>
              <a:rPr lang="ru-RU" sz="1600" dirty="0" smtClean="0">
                <a:latin typeface="Book Antiqua" panose="02040602050305030304" pitchFamily="18" charset="0"/>
              </a:rPr>
              <a:t>) Класс: </a:t>
            </a:r>
            <a:r>
              <a:rPr lang="en-US" sz="1600" dirty="0" err="1" smtClean="0">
                <a:latin typeface="Book Antiqua" panose="02040602050305030304" pitchFamily="18" charset="0"/>
              </a:rPr>
              <a:t>SettingsPanel</a:t>
            </a:r>
            <a:endParaRPr lang="ru-RU" sz="1600" dirty="0" smtClean="0">
              <a:latin typeface="Book Antiqua" panose="02040602050305030304" pitchFamily="18" charset="0"/>
            </a:endParaRPr>
          </a:p>
          <a:p>
            <a:endParaRPr lang="ru-RU" sz="1600" dirty="0" smtClean="0">
              <a:latin typeface="Book Antiqua" panose="02040602050305030304" pitchFamily="18" charset="0"/>
            </a:endParaRPr>
          </a:p>
          <a:p>
            <a:r>
              <a:rPr lang="ru-RU" sz="1600" dirty="0" smtClean="0">
                <a:latin typeface="Book Antiqua" panose="02040602050305030304" pitchFamily="18" charset="0"/>
              </a:rPr>
              <a:t>Экран </a:t>
            </a:r>
            <a:r>
              <a:rPr lang="en-US" sz="1600" dirty="0" smtClean="0">
                <a:latin typeface="Book Antiqua" panose="02040602050305030304" pitchFamily="18" charset="0"/>
              </a:rPr>
              <a:t>Game Over </a:t>
            </a:r>
            <a:r>
              <a:rPr lang="ru-RU" sz="1600" dirty="0" smtClean="0">
                <a:latin typeface="Book Antiqua" panose="02040602050305030304" pitchFamily="18" charset="0"/>
              </a:rPr>
              <a:t>– полупрозрачный оверлей с результатом и предложением перезапуска</a:t>
            </a:r>
            <a:r>
              <a:rPr lang="ru-RU" sz="1600" dirty="0" smtClean="0">
                <a:latin typeface="Book Antiqua" panose="02040602050305030304" pitchFamily="18" charset="0"/>
              </a:rPr>
              <a:t>.</a:t>
            </a:r>
            <a:r>
              <a:rPr lang="en-US" sz="1600" dirty="0" smtClean="0">
                <a:latin typeface="Book Antiqua" panose="02040602050305030304" pitchFamily="18" charset="0"/>
              </a:rPr>
              <a:t> </a:t>
            </a:r>
            <a:r>
              <a:rPr lang="ru-RU" sz="1600" dirty="0" smtClean="0">
                <a:latin typeface="Book Antiqua" panose="02040602050305030304" pitchFamily="18" charset="0"/>
              </a:rPr>
              <a:t>Реализован как оверлей внутри </a:t>
            </a:r>
            <a:r>
              <a:rPr lang="en-US" sz="1600" dirty="0" err="1" smtClean="0">
                <a:latin typeface="Book Antiqua" panose="02040602050305030304" pitchFamily="18" charset="0"/>
              </a:rPr>
              <a:t>GamePanel</a:t>
            </a:r>
            <a:endParaRPr lang="ru-RU" sz="1600" dirty="0">
              <a:latin typeface="Book Antiqua" panose="02040602050305030304" pitchFamily="18" charset="0"/>
            </a:endParaRPr>
          </a:p>
        </p:txBody>
      </p:sp>
    </p:spTree>
    <p:extLst>
      <p:ext uri="{BB962C8B-B14F-4D97-AF65-F5344CB8AC3E}">
        <p14:creationId xmlns:p14="http://schemas.microsoft.com/office/powerpoint/2010/main" val="1979837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32706" y="1168926"/>
            <a:ext cx="2849391" cy="4374624"/>
          </a:xfrm>
          <a:prstGeom prst="rect">
            <a:avLst/>
          </a:prstGeom>
        </p:spPr>
      </p:pic>
      <p:pic>
        <p:nvPicPr>
          <p:cNvPr id="5" name="Рисунок 4"/>
          <p:cNvPicPr>
            <a:picLocks noChangeAspect="1"/>
          </p:cNvPicPr>
          <p:nvPr/>
        </p:nvPicPr>
        <p:blipFill>
          <a:blip r:embed="rId3"/>
          <a:stretch>
            <a:fillRect/>
          </a:stretch>
        </p:blipFill>
        <p:spPr>
          <a:xfrm>
            <a:off x="3202924" y="1168926"/>
            <a:ext cx="2845963" cy="4374624"/>
          </a:xfrm>
          <a:prstGeom prst="rect">
            <a:avLst/>
          </a:prstGeom>
        </p:spPr>
      </p:pic>
      <p:pic>
        <p:nvPicPr>
          <p:cNvPr id="6" name="Рисунок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0692" y="1168926"/>
            <a:ext cx="2861961" cy="4379443"/>
          </a:xfrm>
          <a:prstGeom prst="rect">
            <a:avLst/>
          </a:prstGeom>
        </p:spPr>
      </p:pic>
      <p:sp>
        <p:nvSpPr>
          <p:cNvPr id="7" name="TextBox 6"/>
          <p:cNvSpPr txBox="1"/>
          <p:nvPr/>
        </p:nvSpPr>
        <p:spPr>
          <a:xfrm>
            <a:off x="856735" y="5659392"/>
            <a:ext cx="1853514" cy="307777"/>
          </a:xfrm>
          <a:prstGeom prst="rect">
            <a:avLst/>
          </a:prstGeom>
          <a:noFill/>
        </p:spPr>
        <p:txBody>
          <a:bodyPr wrap="square" rtlCol="0">
            <a:spAutoFit/>
          </a:bodyPr>
          <a:lstStyle/>
          <a:p>
            <a:r>
              <a:rPr lang="ru-RU" sz="1400" dirty="0" smtClean="0">
                <a:latin typeface="Century" panose="02040604050505020304" pitchFamily="18" charset="0"/>
              </a:rPr>
              <a:t>Главное меню</a:t>
            </a:r>
            <a:endParaRPr lang="ru-RU" sz="1400" dirty="0">
              <a:latin typeface="Century" panose="02040604050505020304" pitchFamily="18" charset="0"/>
            </a:endParaRPr>
          </a:p>
        </p:txBody>
      </p:sp>
      <p:sp>
        <p:nvSpPr>
          <p:cNvPr id="9" name="TextBox 8"/>
          <p:cNvSpPr txBox="1"/>
          <p:nvPr/>
        </p:nvSpPr>
        <p:spPr>
          <a:xfrm>
            <a:off x="3754574" y="5659392"/>
            <a:ext cx="1853514" cy="307777"/>
          </a:xfrm>
          <a:prstGeom prst="rect">
            <a:avLst/>
          </a:prstGeom>
          <a:noFill/>
        </p:spPr>
        <p:txBody>
          <a:bodyPr wrap="square" rtlCol="0">
            <a:spAutoFit/>
          </a:bodyPr>
          <a:lstStyle/>
          <a:p>
            <a:r>
              <a:rPr lang="ru-RU" sz="1400" dirty="0" smtClean="0">
                <a:latin typeface="Century" panose="02040604050505020304" pitchFamily="18" charset="0"/>
              </a:rPr>
              <a:t>Экран настроек</a:t>
            </a:r>
            <a:endParaRPr lang="ru-RU" sz="1400" dirty="0">
              <a:latin typeface="Century" panose="02040604050505020304" pitchFamily="18" charset="0"/>
            </a:endParaRPr>
          </a:p>
        </p:txBody>
      </p:sp>
      <p:sp>
        <p:nvSpPr>
          <p:cNvPr id="10" name="TextBox 9"/>
          <p:cNvSpPr txBox="1"/>
          <p:nvPr/>
        </p:nvSpPr>
        <p:spPr>
          <a:xfrm>
            <a:off x="9751359" y="5659392"/>
            <a:ext cx="1853514" cy="307777"/>
          </a:xfrm>
          <a:prstGeom prst="rect">
            <a:avLst/>
          </a:prstGeom>
          <a:noFill/>
        </p:spPr>
        <p:txBody>
          <a:bodyPr wrap="square" rtlCol="0">
            <a:spAutoFit/>
          </a:bodyPr>
          <a:lstStyle/>
          <a:p>
            <a:r>
              <a:rPr lang="ru-RU" sz="1400" dirty="0" smtClean="0">
                <a:latin typeface="Century" panose="02040604050505020304" pitchFamily="18" charset="0"/>
              </a:rPr>
              <a:t>Экран </a:t>
            </a:r>
            <a:r>
              <a:rPr lang="en-US" sz="1400" dirty="0" smtClean="0">
                <a:latin typeface="Century" panose="02040604050505020304" pitchFamily="18" charset="0"/>
              </a:rPr>
              <a:t>Game Over</a:t>
            </a:r>
            <a:endParaRPr lang="ru-RU" sz="1400" dirty="0">
              <a:latin typeface="Century" panose="02040604050505020304" pitchFamily="18" charset="0"/>
            </a:endParaRPr>
          </a:p>
        </p:txBody>
      </p:sp>
      <p:pic>
        <p:nvPicPr>
          <p:cNvPr id="11" name="Рисунок 10"/>
          <p:cNvPicPr>
            <a:picLocks noChangeAspect="1"/>
          </p:cNvPicPr>
          <p:nvPr/>
        </p:nvPicPr>
        <p:blipFill>
          <a:blip r:embed="rId5"/>
          <a:stretch>
            <a:fillRect/>
          </a:stretch>
        </p:blipFill>
        <p:spPr>
          <a:xfrm>
            <a:off x="9214458" y="1168926"/>
            <a:ext cx="2872078" cy="4374624"/>
          </a:xfrm>
          <a:prstGeom prst="rect">
            <a:avLst/>
          </a:prstGeom>
        </p:spPr>
      </p:pic>
      <p:sp>
        <p:nvSpPr>
          <p:cNvPr id="12" name="TextBox 11"/>
          <p:cNvSpPr txBox="1"/>
          <p:nvPr/>
        </p:nvSpPr>
        <p:spPr>
          <a:xfrm>
            <a:off x="6985685" y="5659391"/>
            <a:ext cx="1853514" cy="307777"/>
          </a:xfrm>
          <a:prstGeom prst="rect">
            <a:avLst/>
          </a:prstGeom>
          <a:noFill/>
        </p:spPr>
        <p:txBody>
          <a:bodyPr wrap="square" rtlCol="0">
            <a:spAutoFit/>
          </a:bodyPr>
          <a:lstStyle/>
          <a:p>
            <a:r>
              <a:rPr lang="ru-RU" sz="1400" dirty="0" smtClean="0">
                <a:latin typeface="Century" panose="02040604050505020304" pitchFamily="18" charset="0"/>
              </a:rPr>
              <a:t>Игровое поле</a:t>
            </a:r>
            <a:endParaRPr lang="ru-RU" sz="1400" dirty="0">
              <a:latin typeface="Century" panose="02040604050505020304" pitchFamily="18" charset="0"/>
            </a:endParaRPr>
          </a:p>
        </p:txBody>
      </p:sp>
    </p:spTree>
    <p:extLst>
      <p:ext uri="{BB962C8B-B14F-4D97-AF65-F5344CB8AC3E}">
        <p14:creationId xmlns:p14="http://schemas.microsoft.com/office/powerpoint/2010/main" val="329589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659027"/>
            <a:ext cx="4563762" cy="523220"/>
          </a:xfrm>
          <a:prstGeom prst="rect">
            <a:avLst/>
          </a:prstGeom>
          <a:noFill/>
        </p:spPr>
        <p:txBody>
          <a:bodyPr wrap="square" rtlCol="0">
            <a:spAutoFit/>
          </a:bodyPr>
          <a:lstStyle/>
          <a:p>
            <a:r>
              <a:rPr lang="ru-RU" sz="2800" dirty="0" smtClean="0">
                <a:latin typeface="Book Antiqua" panose="02040602050305030304" pitchFamily="18" charset="0"/>
              </a:rPr>
              <a:t>Объем разработки</a:t>
            </a:r>
            <a:endParaRPr lang="ru-RU" sz="2800" dirty="0">
              <a:latin typeface="Book Antiqua" panose="02040602050305030304" pitchFamily="18" charset="0"/>
            </a:endParaRPr>
          </a:p>
        </p:txBody>
      </p:sp>
      <p:sp>
        <p:nvSpPr>
          <p:cNvPr id="5" name="TextBox 4"/>
          <p:cNvSpPr txBox="1"/>
          <p:nvPr/>
        </p:nvSpPr>
        <p:spPr>
          <a:xfrm>
            <a:off x="840259" y="2100649"/>
            <a:ext cx="45719" cy="369332"/>
          </a:xfrm>
          <a:prstGeom prst="rect">
            <a:avLst/>
          </a:prstGeom>
          <a:noFill/>
        </p:spPr>
        <p:txBody>
          <a:bodyPr wrap="square" rtlCol="0">
            <a:spAutoFit/>
          </a:bodyPr>
          <a:lstStyle/>
          <a:p>
            <a:endParaRPr lang="ru-RU" dirty="0"/>
          </a:p>
        </p:txBody>
      </p:sp>
      <p:pic>
        <p:nvPicPr>
          <p:cNvPr id="6" name="Рисунок 5"/>
          <p:cNvPicPr>
            <a:picLocks noChangeAspect="1"/>
          </p:cNvPicPr>
          <p:nvPr/>
        </p:nvPicPr>
        <p:blipFill>
          <a:blip r:embed="rId2"/>
          <a:stretch>
            <a:fillRect/>
          </a:stretch>
        </p:blipFill>
        <p:spPr>
          <a:xfrm>
            <a:off x="9362762" y="659027"/>
            <a:ext cx="2010732" cy="5876024"/>
          </a:xfrm>
          <a:prstGeom prst="rect">
            <a:avLst/>
          </a:prstGeom>
        </p:spPr>
      </p:pic>
      <p:sp>
        <p:nvSpPr>
          <p:cNvPr id="7" name="TextBox 6"/>
          <p:cNvSpPr txBox="1"/>
          <p:nvPr/>
        </p:nvSpPr>
        <p:spPr>
          <a:xfrm>
            <a:off x="510746" y="1499287"/>
            <a:ext cx="7298724" cy="4832092"/>
          </a:xfrm>
          <a:prstGeom prst="rect">
            <a:avLst/>
          </a:prstGeom>
          <a:noFill/>
        </p:spPr>
        <p:txBody>
          <a:bodyPr wrap="square" rtlCol="0">
            <a:spAutoFit/>
          </a:bodyPr>
          <a:lstStyle/>
          <a:p>
            <a:pPr marL="342900" indent="-342900">
              <a:buAutoNum type="arabicPeriod"/>
            </a:pPr>
            <a:r>
              <a:rPr lang="ru-RU" b="1" dirty="0" smtClean="0">
                <a:latin typeface="Bookman Old Style" panose="02050604050505020204" pitchFamily="18" charset="0"/>
              </a:rPr>
              <a:t>Иерархия классов:</a:t>
            </a:r>
            <a:endParaRPr lang="en-US" b="1" dirty="0" smtClean="0">
              <a:latin typeface="Bookman Old Style" panose="02050604050505020204" pitchFamily="18" charset="0"/>
            </a:endParaRPr>
          </a:p>
          <a:p>
            <a:r>
              <a:rPr lang="ru-RU" sz="1600" dirty="0" smtClean="0">
                <a:latin typeface="Bookman Old Style" panose="02050604050505020204" pitchFamily="18" charset="0"/>
              </a:rPr>
              <a:t>	Реализован класс</a:t>
            </a:r>
            <a:r>
              <a:rPr lang="en-US" sz="1600" dirty="0" smtClean="0">
                <a:latin typeface="Bookman Old Style" panose="02050604050505020204" pitchFamily="18" charset="0"/>
              </a:rPr>
              <a:t> </a:t>
            </a:r>
            <a:r>
              <a:rPr lang="en-US" sz="1600" dirty="0" err="1" smtClean="0">
                <a:latin typeface="Bookman Old Style" panose="02050604050505020204" pitchFamily="18" charset="0"/>
              </a:rPr>
              <a:t>entityPlatform</a:t>
            </a:r>
            <a:r>
              <a:rPr lang="ru-RU" sz="1600" dirty="0" smtClean="0">
                <a:latin typeface="Bookman Old Style" panose="02050604050505020204" pitchFamily="18" charset="0"/>
              </a:rPr>
              <a:t>, который стал фундаментом для всех типов платформ.</a:t>
            </a:r>
          </a:p>
          <a:p>
            <a:r>
              <a:rPr lang="ru-RU" sz="1600" dirty="0" smtClean="0">
                <a:latin typeface="Bookman Old Style" panose="02050604050505020204" pitchFamily="18" charset="0"/>
              </a:rPr>
              <a:t>Реализован класс </a:t>
            </a:r>
            <a:r>
              <a:rPr lang="en-US" sz="1600" dirty="0" err="1" smtClean="0">
                <a:latin typeface="Bookman Old Style" panose="02050604050505020204" pitchFamily="18" charset="0"/>
              </a:rPr>
              <a:t>entityDoodleGuy</a:t>
            </a:r>
            <a:r>
              <a:rPr lang="ru-RU" sz="1600" dirty="0" smtClean="0">
                <a:latin typeface="Bookman Old Style" panose="02050604050505020204" pitchFamily="18" charset="0"/>
              </a:rPr>
              <a:t>, инкапсулирующий в себе состояние персонажа, его физические свойства и логику обработки </a:t>
            </a:r>
            <a:r>
              <a:rPr lang="ru-RU" sz="1600" dirty="0" err="1" smtClean="0">
                <a:latin typeface="Bookman Old Style" panose="02050604050505020204" pitchFamily="18" charset="0"/>
              </a:rPr>
              <a:t>анимаций</a:t>
            </a:r>
            <a:r>
              <a:rPr lang="ru-RU" sz="1600" dirty="0" smtClean="0">
                <a:latin typeface="Bookman Old Style" panose="02050604050505020204" pitchFamily="18" charset="0"/>
              </a:rPr>
              <a:t>.</a:t>
            </a:r>
          </a:p>
          <a:p>
            <a:endParaRPr lang="ru-RU" sz="1600" dirty="0">
              <a:latin typeface="Bookman Old Style" panose="02050604050505020204" pitchFamily="18" charset="0"/>
            </a:endParaRPr>
          </a:p>
          <a:p>
            <a:r>
              <a:rPr lang="ru-RU" b="1" dirty="0" smtClean="0">
                <a:latin typeface="Bookman Old Style" panose="02050604050505020204" pitchFamily="18" charset="0"/>
              </a:rPr>
              <a:t>2. Разработка физического движка и коллизий:</a:t>
            </a:r>
          </a:p>
          <a:p>
            <a:r>
              <a:rPr lang="ru-RU" sz="1600" dirty="0" smtClean="0">
                <a:latin typeface="Bookman Old Style" panose="02050604050505020204" pitchFamily="18" charset="0"/>
              </a:rPr>
              <a:t>	Написана логика падения под действием гравитации (</a:t>
            </a:r>
            <a:r>
              <a:rPr lang="en-US" sz="1600" dirty="0" smtClean="0">
                <a:latin typeface="Bookman Old Style" panose="02050604050505020204" pitchFamily="18" charset="0"/>
              </a:rPr>
              <a:t>velocity += gravity)</a:t>
            </a:r>
            <a:r>
              <a:rPr lang="ru-RU" sz="1600" dirty="0" smtClean="0">
                <a:latin typeface="Bookman Old Style" panose="02050604050505020204" pitchFamily="18" charset="0"/>
              </a:rPr>
              <a:t> и мгновенного </a:t>
            </a:r>
            <a:r>
              <a:rPr lang="ru-RU" sz="1600" dirty="0" err="1" smtClean="0">
                <a:latin typeface="Bookman Old Style" panose="02050604050505020204" pitchFamily="18" charset="0"/>
              </a:rPr>
              <a:t>импулсьа</a:t>
            </a:r>
            <a:r>
              <a:rPr lang="ru-RU" sz="1600" dirty="0" smtClean="0">
                <a:latin typeface="Bookman Old Style" panose="02050604050505020204" pitchFamily="18" charset="0"/>
              </a:rPr>
              <a:t> при прыжке</a:t>
            </a:r>
          </a:p>
          <a:p>
            <a:r>
              <a:rPr lang="ru-RU" sz="1600" dirty="0" smtClean="0">
                <a:latin typeface="Bookman Old Style" panose="02050604050505020204" pitchFamily="18" charset="0"/>
              </a:rPr>
              <a:t>Для каждого объекта реализована невидимая геометрическая оболочка (</a:t>
            </a:r>
            <a:r>
              <a:rPr lang="en-US" sz="1600" dirty="0" smtClean="0">
                <a:latin typeface="Bookman Old Style" panose="02050604050505020204" pitchFamily="18" charset="0"/>
              </a:rPr>
              <a:t>Rectangle</a:t>
            </a:r>
            <a:r>
              <a:rPr lang="ru-RU" sz="1600" dirty="0" smtClean="0">
                <a:latin typeface="Bookman Old Style" panose="02050604050505020204" pitchFamily="18" charset="0"/>
              </a:rPr>
              <a:t>). Написан алгоритм проверки пересечений.</a:t>
            </a:r>
          </a:p>
          <a:p>
            <a:endParaRPr lang="ru-RU" sz="1600" dirty="0">
              <a:latin typeface="Bookman Old Style" panose="02050604050505020204" pitchFamily="18" charset="0"/>
            </a:endParaRPr>
          </a:p>
          <a:p>
            <a:r>
              <a:rPr lang="ru-RU" sz="1600" b="1" dirty="0" smtClean="0">
                <a:latin typeface="Bookman Old Style" panose="02050604050505020204" pitchFamily="18" charset="0"/>
              </a:rPr>
              <a:t>3. Алгоритмическая часть:</a:t>
            </a:r>
          </a:p>
          <a:p>
            <a:r>
              <a:rPr lang="ru-RU" sz="1600" dirty="0" smtClean="0">
                <a:latin typeface="Bookman Old Style" panose="02050604050505020204" pitchFamily="18" charset="0"/>
              </a:rPr>
              <a:t>	Написан алгоритм бесконечной генерации платформ.</a:t>
            </a:r>
          </a:p>
          <a:p>
            <a:r>
              <a:rPr lang="ru-RU" sz="1600" dirty="0" smtClean="0">
                <a:latin typeface="Bookman Old Style" panose="02050604050505020204" pitchFamily="18" charset="0"/>
              </a:rPr>
              <a:t>Реализована логика «слежения», которая перемещает игровой мир вниз, когда персонаж достигает определенной высоты. Также реализована система удаления объектов, вышедших за пределы экрана.</a:t>
            </a:r>
          </a:p>
        </p:txBody>
      </p:sp>
    </p:spTree>
    <p:extLst>
      <p:ext uri="{BB962C8B-B14F-4D97-AF65-F5344CB8AC3E}">
        <p14:creationId xmlns:p14="http://schemas.microsoft.com/office/powerpoint/2010/main" val="2003728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9853" y="575390"/>
            <a:ext cx="3904735" cy="523220"/>
          </a:xfrm>
          <a:prstGeom prst="rect">
            <a:avLst/>
          </a:prstGeom>
          <a:noFill/>
        </p:spPr>
        <p:txBody>
          <a:bodyPr wrap="square" rtlCol="0">
            <a:spAutoFit/>
          </a:bodyPr>
          <a:lstStyle/>
          <a:p>
            <a:r>
              <a:rPr lang="ru-RU" sz="2800" dirty="0" smtClean="0">
                <a:latin typeface="Book Antiqua" panose="02040602050305030304" pitchFamily="18" charset="0"/>
              </a:rPr>
              <a:t>Технологии</a:t>
            </a:r>
            <a:endParaRPr lang="ru-RU" sz="2800" dirty="0">
              <a:latin typeface="Book Antiqua" panose="02040602050305030304" pitchFamily="18" charset="0"/>
            </a:endParaRPr>
          </a:p>
        </p:txBody>
      </p:sp>
      <p:sp>
        <p:nvSpPr>
          <p:cNvPr id="5" name="TextBox 4"/>
          <p:cNvSpPr txBox="1"/>
          <p:nvPr/>
        </p:nvSpPr>
        <p:spPr>
          <a:xfrm flipH="1">
            <a:off x="799070" y="1846883"/>
            <a:ext cx="5069978" cy="369332"/>
          </a:xfrm>
          <a:prstGeom prst="rect">
            <a:avLst/>
          </a:prstGeom>
          <a:noFill/>
        </p:spPr>
        <p:txBody>
          <a:bodyPr wrap="square" rtlCol="0">
            <a:spAutoFit/>
          </a:bodyPr>
          <a:lstStyle/>
          <a:p>
            <a:r>
              <a:rPr lang="ru-RU" dirty="0" smtClean="0">
                <a:latin typeface="Bookman Old Style" panose="02050604050505020204" pitchFamily="18" charset="0"/>
              </a:rPr>
              <a:t>Ядро системы: </a:t>
            </a:r>
            <a:r>
              <a:rPr lang="en-US" dirty="0" smtClean="0">
                <a:latin typeface="Bookman Old Style" panose="02050604050505020204" pitchFamily="18" charset="0"/>
              </a:rPr>
              <a:t>Java </a:t>
            </a:r>
            <a:r>
              <a:rPr lang="en-US" dirty="0" err="1" smtClean="0">
                <a:latin typeface="Bookman Old Style" panose="02050604050505020204" pitchFamily="18" charset="0"/>
              </a:rPr>
              <a:t>Standart</a:t>
            </a:r>
            <a:r>
              <a:rPr lang="en-US" dirty="0" smtClean="0">
                <a:latin typeface="Bookman Old Style" panose="02050604050505020204" pitchFamily="18" charset="0"/>
              </a:rPr>
              <a:t> Edition</a:t>
            </a:r>
            <a:endParaRPr lang="ru-RU" dirty="0">
              <a:latin typeface="Bookman Old Style" panose="02050604050505020204" pitchFamily="18" charset="0"/>
            </a:endParaRPr>
          </a:p>
        </p:txBody>
      </p:sp>
      <p:sp>
        <p:nvSpPr>
          <p:cNvPr id="7" name="TextBox 6"/>
          <p:cNvSpPr txBox="1"/>
          <p:nvPr/>
        </p:nvSpPr>
        <p:spPr>
          <a:xfrm>
            <a:off x="1083686" y="2187147"/>
            <a:ext cx="4929936" cy="523220"/>
          </a:xfrm>
          <a:prstGeom prst="rect">
            <a:avLst/>
          </a:prstGeom>
          <a:noFill/>
        </p:spPr>
        <p:txBody>
          <a:bodyPr wrap="square" rtlCol="0">
            <a:spAutoFit/>
          </a:bodyPr>
          <a:lstStyle/>
          <a:p>
            <a:r>
              <a:rPr lang="ru-RU" sz="1400" dirty="0" smtClean="0">
                <a:latin typeface="Bookman Old Style" panose="02050604050505020204" pitchFamily="18" charset="0"/>
              </a:rPr>
              <a:t>В основе проекта лежит использование ООП, что позволило структурировать код</a:t>
            </a:r>
            <a:endParaRPr lang="ru-RU" sz="1400" dirty="0">
              <a:latin typeface="Bookman Old Style" panose="02050604050505020204" pitchFamily="18" charset="0"/>
            </a:endParaRPr>
          </a:p>
        </p:txBody>
      </p:sp>
      <p:sp>
        <p:nvSpPr>
          <p:cNvPr id="8" name="TextBox 7"/>
          <p:cNvSpPr txBox="1"/>
          <p:nvPr/>
        </p:nvSpPr>
        <p:spPr>
          <a:xfrm>
            <a:off x="799070" y="3528095"/>
            <a:ext cx="4464908" cy="369332"/>
          </a:xfrm>
          <a:prstGeom prst="rect">
            <a:avLst/>
          </a:prstGeom>
          <a:noFill/>
        </p:spPr>
        <p:txBody>
          <a:bodyPr wrap="square" rtlCol="0">
            <a:spAutoFit/>
          </a:bodyPr>
          <a:lstStyle/>
          <a:p>
            <a:r>
              <a:rPr lang="ru-RU" dirty="0" smtClean="0">
                <a:latin typeface="Bookman Old Style" panose="02050604050505020204" pitchFamily="18" charset="0"/>
              </a:rPr>
              <a:t>Графический движок: </a:t>
            </a:r>
            <a:r>
              <a:rPr lang="en-US" dirty="0" smtClean="0">
                <a:latin typeface="Bookman Old Style" panose="02050604050505020204" pitchFamily="18" charset="0"/>
              </a:rPr>
              <a:t>Swing </a:t>
            </a:r>
            <a:r>
              <a:rPr lang="ru-RU" dirty="0" smtClean="0">
                <a:latin typeface="Bookman Old Style" panose="02050604050505020204" pitchFamily="18" charset="0"/>
              </a:rPr>
              <a:t>и </a:t>
            </a:r>
            <a:r>
              <a:rPr lang="en-US" dirty="0" smtClean="0">
                <a:latin typeface="Bookman Old Style" panose="02050604050505020204" pitchFamily="18" charset="0"/>
              </a:rPr>
              <a:t>AWT</a:t>
            </a:r>
            <a:r>
              <a:rPr lang="ru-RU" dirty="0" smtClean="0">
                <a:latin typeface="Bookman Old Style" panose="02050604050505020204" pitchFamily="18" charset="0"/>
              </a:rPr>
              <a:t> </a:t>
            </a:r>
            <a:endParaRPr lang="ru-RU" dirty="0">
              <a:latin typeface="Bookman Old Style" panose="02050604050505020204" pitchFamily="18" charset="0"/>
            </a:endParaRPr>
          </a:p>
        </p:txBody>
      </p:sp>
      <p:sp>
        <p:nvSpPr>
          <p:cNvPr id="9" name="TextBox 8"/>
          <p:cNvSpPr txBox="1"/>
          <p:nvPr/>
        </p:nvSpPr>
        <p:spPr>
          <a:xfrm>
            <a:off x="1083684" y="4022247"/>
            <a:ext cx="5177071" cy="2246769"/>
          </a:xfrm>
          <a:prstGeom prst="rect">
            <a:avLst/>
          </a:prstGeom>
          <a:noFill/>
        </p:spPr>
        <p:txBody>
          <a:bodyPr wrap="square" rtlCol="0">
            <a:spAutoFit/>
          </a:bodyPr>
          <a:lstStyle/>
          <a:p>
            <a:r>
              <a:rPr lang="ru-RU" sz="1400" dirty="0" smtClean="0">
                <a:latin typeface="Bookman Old Style" panose="02050604050505020204" pitchFamily="18" charset="0"/>
              </a:rPr>
              <a:t>Вместо использования тяжелых игровых движков, проект реализован на стандартных библиотеках </a:t>
            </a:r>
            <a:r>
              <a:rPr lang="en-US" sz="1400" dirty="0" smtClean="0">
                <a:latin typeface="Bookman Old Style" panose="02050604050505020204" pitchFamily="18" charset="0"/>
              </a:rPr>
              <a:t>Java</a:t>
            </a:r>
            <a:r>
              <a:rPr lang="ru-RU" sz="1400" dirty="0" smtClean="0">
                <a:latin typeface="Bookman Old Style" panose="02050604050505020204" pitchFamily="18" charset="0"/>
              </a:rPr>
              <a:t>:</a:t>
            </a:r>
          </a:p>
          <a:p>
            <a:r>
              <a:rPr lang="en-US" sz="1400" dirty="0">
                <a:latin typeface="Bookman Old Style" panose="02050604050505020204" pitchFamily="18" charset="0"/>
              </a:rPr>
              <a:t>	</a:t>
            </a:r>
            <a:r>
              <a:rPr lang="en-US" sz="1400" dirty="0" smtClean="0">
                <a:latin typeface="Bookman Old Style" panose="02050604050505020204" pitchFamily="18" charset="0"/>
              </a:rPr>
              <a:t>Graphics2D</a:t>
            </a:r>
            <a:r>
              <a:rPr lang="ru-RU" sz="1400" dirty="0" smtClean="0">
                <a:latin typeface="Bookman Old Style" panose="02050604050505020204" pitchFamily="18" charset="0"/>
              </a:rPr>
              <a:t>: основной инструмент рендеринга.</a:t>
            </a:r>
          </a:p>
          <a:p>
            <a:r>
              <a:rPr lang="ru-RU" sz="1400" dirty="0">
                <a:latin typeface="Bookman Old Style" panose="02050604050505020204" pitchFamily="18" charset="0"/>
              </a:rPr>
              <a:t>	</a:t>
            </a:r>
            <a:r>
              <a:rPr lang="en-US" sz="1400" dirty="0" smtClean="0">
                <a:latin typeface="Bookman Old Style" panose="02050604050505020204" pitchFamily="18" charset="0"/>
              </a:rPr>
              <a:t>Double Buffering</a:t>
            </a:r>
            <a:r>
              <a:rPr lang="ru-RU" sz="1400" dirty="0" smtClean="0">
                <a:latin typeface="Bookman Old Style" panose="02050604050505020204" pitchFamily="18" charset="0"/>
              </a:rPr>
              <a:t>: технология, встроенная в </a:t>
            </a:r>
            <a:r>
              <a:rPr lang="en-US" sz="1400" dirty="0" err="1" smtClean="0">
                <a:latin typeface="Bookman Old Style" panose="02050604050505020204" pitchFamily="18" charset="0"/>
              </a:rPr>
              <a:t>JPanel</a:t>
            </a:r>
            <a:r>
              <a:rPr lang="ru-RU" sz="1400" dirty="0" smtClean="0">
                <a:latin typeface="Bookman Old Style" panose="02050604050505020204" pitchFamily="18" charset="0"/>
              </a:rPr>
              <a:t>, которая </a:t>
            </a:r>
            <a:r>
              <a:rPr lang="ru-RU" sz="1400" dirty="0" err="1" smtClean="0">
                <a:latin typeface="Bookman Old Style" panose="02050604050505020204" pitchFamily="18" charset="0"/>
              </a:rPr>
              <a:t>предовтращает</a:t>
            </a:r>
            <a:r>
              <a:rPr lang="ru-RU" sz="1400" dirty="0" smtClean="0">
                <a:latin typeface="Bookman Old Style" panose="02050604050505020204" pitchFamily="18" charset="0"/>
              </a:rPr>
              <a:t> мерцание при смене кадров.</a:t>
            </a:r>
          </a:p>
          <a:p>
            <a:r>
              <a:rPr lang="ru-RU" sz="1400" dirty="0">
                <a:latin typeface="Bookman Old Style" panose="02050604050505020204" pitchFamily="18" charset="0"/>
              </a:rPr>
              <a:t>	</a:t>
            </a:r>
            <a:r>
              <a:rPr lang="en-US" sz="1400" dirty="0" err="1" smtClean="0">
                <a:latin typeface="Bookman Old Style" panose="02050604050505020204" pitchFamily="18" charset="0"/>
              </a:rPr>
              <a:t>ImageIO</a:t>
            </a:r>
            <a:r>
              <a:rPr lang="ru-RU" sz="1400" dirty="0" smtClean="0">
                <a:latin typeface="Bookman Old Style" panose="02050604050505020204" pitchFamily="18" charset="0"/>
              </a:rPr>
              <a:t>: библиотека для работы с ресурсами. С ее помощью реализован </a:t>
            </a:r>
            <a:r>
              <a:rPr lang="ru-RU" sz="1400" dirty="0" err="1" smtClean="0">
                <a:latin typeface="Bookman Old Style" panose="02050604050505020204" pitchFamily="18" charset="0"/>
              </a:rPr>
              <a:t>парсинг</a:t>
            </a:r>
            <a:r>
              <a:rPr lang="ru-RU" sz="1400" dirty="0" smtClean="0">
                <a:latin typeface="Bookman Old Style" panose="02050604050505020204" pitchFamily="18" charset="0"/>
              </a:rPr>
              <a:t> спрайт-листов.</a:t>
            </a:r>
          </a:p>
        </p:txBody>
      </p:sp>
      <p:sp>
        <p:nvSpPr>
          <p:cNvPr id="10" name="TextBox 9"/>
          <p:cNvSpPr txBox="1"/>
          <p:nvPr/>
        </p:nvSpPr>
        <p:spPr>
          <a:xfrm flipH="1">
            <a:off x="7383368" y="505935"/>
            <a:ext cx="4155578" cy="369332"/>
          </a:xfrm>
          <a:prstGeom prst="rect">
            <a:avLst/>
          </a:prstGeom>
          <a:noFill/>
        </p:spPr>
        <p:txBody>
          <a:bodyPr wrap="square" rtlCol="0">
            <a:spAutoFit/>
          </a:bodyPr>
          <a:lstStyle/>
          <a:p>
            <a:r>
              <a:rPr lang="ru-RU" dirty="0" smtClean="0">
                <a:latin typeface="Bookman Old Style" panose="02050604050505020204" pitchFamily="18" charset="0"/>
              </a:rPr>
              <a:t>Игровой цикл:</a:t>
            </a:r>
            <a:r>
              <a:rPr lang="en-US" dirty="0" smtClean="0">
                <a:latin typeface="Bookman Old Style" panose="02050604050505020204" pitchFamily="18" charset="0"/>
              </a:rPr>
              <a:t> </a:t>
            </a:r>
            <a:r>
              <a:rPr lang="en-US" dirty="0" err="1" smtClean="0">
                <a:latin typeface="Bookman Old Style" panose="02050604050505020204" pitchFamily="18" charset="0"/>
              </a:rPr>
              <a:t>javax.swing.Timer</a:t>
            </a:r>
            <a:endParaRPr lang="ru-RU" dirty="0">
              <a:latin typeface="Bookman Old Style" panose="02050604050505020204" pitchFamily="18" charset="0"/>
            </a:endParaRPr>
          </a:p>
        </p:txBody>
      </p:sp>
      <p:sp>
        <p:nvSpPr>
          <p:cNvPr id="11" name="TextBox 10"/>
          <p:cNvSpPr txBox="1"/>
          <p:nvPr/>
        </p:nvSpPr>
        <p:spPr>
          <a:xfrm>
            <a:off x="6837405" y="884876"/>
            <a:ext cx="4852086" cy="2031325"/>
          </a:xfrm>
          <a:prstGeom prst="rect">
            <a:avLst/>
          </a:prstGeom>
          <a:noFill/>
        </p:spPr>
        <p:txBody>
          <a:bodyPr wrap="square" rtlCol="0">
            <a:spAutoFit/>
          </a:bodyPr>
          <a:lstStyle/>
          <a:p>
            <a:r>
              <a:rPr lang="ru-RU" sz="1400" dirty="0" smtClean="0">
                <a:latin typeface="Bookman Old Style" panose="02050604050505020204" pitchFamily="18" charset="0"/>
              </a:rPr>
              <a:t>Таймер генерирует события каждые 16 </a:t>
            </a:r>
            <a:r>
              <a:rPr lang="ru-RU" sz="1400" dirty="0" err="1" smtClean="0">
                <a:latin typeface="Bookman Old Style" panose="02050604050505020204" pitchFamily="18" charset="0"/>
              </a:rPr>
              <a:t>мс</a:t>
            </a:r>
            <a:r>
              <a:rPr lang="ru-RU" sz="1400" dirty="0" smtClean="0">
                <a:latin typeface="Bookman Old Style" panose="02050604050505020204" pitchFamily="18" charset="0"/>
              </a:rPr>
              <a:t> (1000мс</a:t>
            </a:r>
            <a:r>
              <a:rPr lang="en-US" sz="1400" dirty="0" smtClean="0">
                <a:latin typeface="Bookman Old Style" panose="02050604050505020204" pitchFamily="18" charset="0"/>
              </a:rPr>
              <a:t> / 60</a:t>
            </a:r>
            <a:r>
              <a:rPr lang="ru-RU" sz="1400" dirty="0" smtClean="0">
                <a:latin typeface="Bookman Old Style" panose="02050604050505020204" pitchFamily="18" charset="0"/>
              </a:rPr>
              <a:t>кадров). В каждом цикле происходят три действия:</a:t>
            </a:r>
          </a:p>
          <a:p>
            <a:r>
              <a:rPr lang="ru-RU" sz="1400" dirty="0">
                <a:latin typeface="Bookman Old Style" panose="02050604050505020204" pitchFamily="18" charset="0"/>
              </a:rPr>
              <a:t>	</a:t>
            </a:r>
            <a:r>
              <a:rPr lang="en-US" sz="1400" dirty="0" smtClean="0">
                <a:latin typeface="Bookman Old Style" panose="02050604050505020204" pitchFamily="18" charset="0"/>
              </a:rPr>
              <a:t>Update</a:t>
            </a:r>
            <a:r>
              <a:rPr lang="ru-RU" sz="1400" dirty="0" smtClean="0">
                <a:latin typeface="Bookman Old Style" panose="02050604050505020204" pitchFamily="18" charset="0"/>
              </a:rPr>
              <a:t>: пересчет координат игрока и платформ</a:t>
            </a:r>
          </a:p>
          <a:p>
            <a:r>
              <a:rPr lang="ru-RU" sz="1400" dirty="0">
                <a:latin typeface="Bookman Old Style" panose="02050604050505020204" pitchFamily="18" charset="0"/>
              </a:rPr>
              <a:t>	</a:t>
            </a:r>
            <a:r>
              <a:rPr lang="en-US" sz="1400" dirty="0" smtClean="0">
                <a:latin typeface="Bookman Old Style" panose="02050604050505020204" pitchFamily="18" charset="0"/>
              </a:rPr>
              <a:t>Check</a:t>
            </a:r>
            <a:r>
              <a:rPr lang="ru-RU" sz="1400" dirty="0" smtClean="0">
                <a:latin typeface="Bookman Old Style" panose="02050604050505020204" pitchFamily="18" charset="0"/>
              </a:rPr>
              <a:t>: проверка коллизий и условий </a:t>
            </a:r>
            <a:r>
              <a:rPr lang="ru-RU" sz="1400" dirty="0" err="1" smtClean="0">
                <a:latin typeface="Bookman Old Style" panose="02050604050505020204" pitchFamily="18" charset="0"/>
              </a:rPr>
              <a:t>проигрышка</a:t>
            </a:r>
            <a:endParaRPr lang="ru-RU" sz="1400" dirty="0" smtClean="0">
              <a:latin typeface="Bookman Old Style" panose="02050604050505020204" pitchFamily="18" charset="0"/>
            </a:endParaRPr>
          </a:p>
          <a:p>
            <a:r>
              <a:rPr lang="ru-RU" sz="1400" dirty="0">
                <a:latin typeface="Bookman Old Style" panose="02050604050505020204" pitchFamily="18" charset="0"/>
              </a:rPr>
              <a:t>	</a:t>
            </a:r>
            <a:r>
              <a:rPr lang="en-US" sz="1400" dirty="0" smtClean="0">
                <a:latin typeface="Bookman Old Style" panose="02050604050505020204" pitchFamily="18" charset="0"/>
              </a:rPr>
              <a:t>Repaint</a:t>
            </a:r>
            <a:r>
              <a:rPr lang="ru-RU" sz="1400" dirty="0" smtClean="0">
                <a:latin typeface="Bookman Old Style" panose="02050604050505020204" pitchFamily="18" charset="0"/>
              </a:rPr>
              <a:t>: вызов метода </a:t>
            </a:r>
            <a:r>
              <a:rPr lang="en-US" sz="1400" dirty="0" err="1" smtClean="0">
                <a:latin typeface="Bookman Old Style" panose="02050604050505020204" pitchFamily="18" charset="0"/>
              </a:rPr>
              <a:t>paintComponent</a:t>
            </a:r>
            <a:r>
              <a:rPr lang="ru-RU" sz="1400" dirty="0" smtClean="0">
                <a:latin typeface="Bookman Old Style" panose="02050604050505020204" pitchFamily="18" charset="0"/>
              </a:rPr>
              <a:t> для перерисовки</a:t>
            </a:r>
            <a:endParaRPr lang="ru-RU" sz="1400" dirty="0">
              <a:latin typeface="Bookman Old Style" panose="02050604050505020204" pitchFamily="18" charset="0"/>
            </a:endParaRPr>
          </a:p>
        </p:txBody>
      </p:sp>
      <p:sp>
        <p:nvSpPr>
          <p:cNvPr id="13" name="TextBox 12"/>
          <p:cNvSpPr txBox="1"/>
          <p:nvPr/>
        </p:nvSpPr>
        <p:spPr>
          <a:xfrm flipH="1">
            <a:off x="7292752" y="3375916"/>
            <a:ext cx="4860324" cy="646331"/>
          </a:xfrm>
          <a:prstGeom prst="rect">
            <a:avLst/>
          </a:prstGeom>
          <a:noFill/>
        </p:spPr>
        <p:txBody>
          <a:bodyPr wrap="square" rtlCol="0">
            <a:spAutoFit/>
          </a:bodyPr>
          <a:lstStyle/>
          <a:p>
            <a:r>
              <a:rPr lang="ru-RU" dirty="0" smtClean="0">
                <a:latin typeface="Bookman Old Style" panose="02050604050505020204" pitchFamily="18" charset="0"/>
              </a:rPr>
              <a:t>Обработка пользовательского ввода: </a:t>
            </a:r>
            <a:r>
              <a:rPr lang="en-US" dirty="0" smtClean="0">
                <a:latin typeface="Bookman Old Style" panose="02050604050505020204" pitchFamily="18" charset="0"/>
              </a:rPr>
              <a:t>Event Listeners</a:t>
            </a:r>
            <a:endParaRPr lang="ru-RU" dirty="0">
              <a:latin typeface="Bookman Old Style" panose="02050604050505020204" pitchFamily="18" charset="0"/>
            </a:endParaRPr>
          </a:p>
        </p:txBody>
      </p:sp>
      <p:sp>
        <p:nvSpPr>
          <p:cNvPr id="15" name="TextBox 14"/>
          <p:cNvSpPr txBox="1"/>
          <p:nvPr/>
        </p:nvSpPr>
        <p:spPr>
          <a:xfrm>
            <a:off x="6837405" y="4041590"/>
            <a:ext cx="4929936" cy="1384995"/>
          </a:xfrm>
          <a:prstGeom prst="rect">
            <a:avLst/>
          </a:prstGeom>
          <a:noFill/>
        </p:spPr>
        <p:txBody>
          <a:bodyPr wrap="square" rtlCol="0">
            <a:spAutoFit/>
          </a:bodyPr>
          <a:lstStyle/>
          <a:p>
            <a:r>
              <a:rPr lang="ru-RU" sz="1400" dirty="0" smtClean="0">
                <a:latin typeface="Bookman Old Style" panose="02050604050505020204" pitchFamily="18" charset="0"/>
              </a:rPr>
              <a:t>	</a:t>
            </a:r>
            <a:r>
              <a:rPr lang="en-US" sz="1400" dirty="0" err="1" smtClean="0">
                <a:latin typeface="Bookman Old Style" panose="02050604050505020204" pitchFamily="18" charset="0"/>
              </a:rPr>
              <a:t>MouseMotionListener</a:t>
            </a:r>
            <a:r>
              <a:rPr lang="ru-RU" sz="1400" dirty="0" smtClean="0">
                <a:latin typeface="Bookman Old Style" panose="02050604050505020204" pitchFamily="18" charset="0"/>
              </a:rPr>
              <a:t>: отслеживание перемещения мыши для управления игроком. Использование относительно смещения </a:t>
            </a:r>
            <a:r>
              <a:rPr lang="en-US" sz="1400" dirty="0" err="1" smtClean="0">
                <a:latin typeface="Bookman Old Style" panose="02050604050505020204" pitchFamily="18" charset="0"/>
              </a:rPr>
              <a:t>deltaX</a:t>
            </a:r>
            <a:r>
              <a:rPr lang="ru-RU" sz="1400" dirty="0" smtClean="0">
                <a:latin typeface="Bookman Old Style" panose="02050604050505020204" pitchFamily="18" charset="0"/>
              </a:rPr>
              <a:t> делает управление плавным и отзывчивым.</a:t>
            </a:r>
          </a:p>
          <a:p>
            <a:r>
              <a:rPr lang="ru-RU" sz="1400" dirty="0" smtClean="0">
                <a:latin typeface="Bookman Old Style" panose="02050604050505020204" pitchFamily="18" charset="0"/>
              </a:rPr>
              <a:t>	</a:t>
            </a:r>
            <a:r>
              <a:rPr lang="en-US" sz="1400" dirty="0" err="1" smtClean="0">
                <a:latin typeface="Bookman Old Style" panose="02050604050505020204" pitchFamily="18" charset="0"/>
              </a:rPr>
              <a:t>KeyListener</a:t>
            </a:r>
            <a:r>
              <a:rPr lang="ru-RU" sz="1400" dirty="0" smtClean="0">
                <a:latin typeface="Bookman Old Style" panose="02050604050505020204" pitchFamily="18" charset="0"/>
              </a:rPr>
              <a:t>: обработка системных команд.</a:t>
            </a:r>
            <a:endParaRPr lang="ru-RU" sz="1400" dirty="0">
              <a:latin typeface="Bookman Old Style" panose="02050604050505020204" pitchFamily="18" charset="0"/>
            </a:endParaRPr>
          </a:p>
        </p:txBody>
      </p:sp>
    </p:spTree>
    <p:extLst>
      <p:ext uri="{BB962C8B-B14F-4D97-AF65-F5344CB8AC3E}">
        <p14:creationId xmlns:p14="http://schemas.microsoft.com/office/powerpoint/2010/main" val="2349411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18054" y="617838"/>
            <a:ext cx="4366054" cy="523220"/>
          </a:xfrm>
          <a:prstGeom prst="rect">
            <a:avLst/>
          </a:prstGeom>
          <a:noFill/>
        </p:spPr>
        <p:txBody>
          <a:bodyPr wrap="square" rtlCol="0">
            <a:spAutoFit/>
          </a:bodyPr>
          <a:lstStyle/>
          <a:p>
            <a:r>
              <a:rPr lang="ru-RU" sz="2800" dirty="0" smtClean="0">
                <a:latin typeface="Book Antiqua" panose="02040602050305030304" pitchFamily="18" charset="0"/>
              </a:rPr>
              <a:t>Трудности и решения</a:t>
            </a:r>
            <a:endParaRPr lang="ru-RU" sz="2800" dirty="0">
              <a:latin typeface="Book Antiqua" panose="02040602050305030304" pitchFamily="18" charset="0"/>
            </a:endParaRPr>
          </a:p>
        </p:txBody>
      </p:sp>
      <p:sp>
        <p:nvSpPr>
          <p:cNvPr id="6" name="Прямоугольник 5"/>
          <p:cNvSpPr/>
          <p:nvPr/>
        </p:nvSpPr>
        <p:spPr>
          <a:xfrm>
            <a:off x="1516403" y="1831250"/>
            <a:ext cx="3969356" cy="369332"/>
          </a:xfrm>
          <a:prstGeom prst="rect">
            <a:avLst/>
          </a:prstGeom>
        </p:spPr>
        <p:txBody>
          <a:bodyPr wrap="none">
            <a:spAutoFit/>
          </a:bodyPr>
          <a:lstStyle/>
          <a:p>
            <a:r>
              <a:rPr lang="ru-RU" dirty="0">
                <a:latin typeface="Book Antiqua" panose="02040602050305030304" pitchFamily="18" charset="0"/>
              </a:rPr>
              <a:t>Реализация динамической камеры</a:t>
            </a:r>
          </a:p>
        </p:txBody>
      </p:sp>
      <p:sp>
        <p:nvSpPr>
          <p:cNvPr id="7" name="Rectangle 1"/>
          <p:cNvSpPr>
            <a:spLocks noChangeArrowheads="1"/>
          </p:cNvSpPr>
          <p:nvPr/>
        </p:nvSpPr>
        <p:spPr bwMode="auto">
          <a:xfrm rot="10800000" flipV="1">
            <a:off x="953056" y="2200582"/>
            <a:ext cx="551111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400" b="1" i="0" u="none" strike="noStrike" cap="none" normalizeH="0" baseline="0" dirty="0" smtClean="0">
                <a:ln>
                  <a:noFill/>
                </a:ln>
                <a:solidFill>
                  <a:schemeClr val="tx1"/>
                </a:solidFill>
                <a:effectLst/>
                <a:latin typeface="Bookman Old Style" panose="02050604050505020204" pitchFamily="18" charset="0"/>
              </a:rPr>
              <a:t>Трудность:</a:t>
            </a:r>
            <a:r>
              <a:rPr kumimoji="0" lang="ru-RU" altLang="ru-RU" sz="1400" b="0" i="0" u="none" strike="noStrike" cap="none" normalizeH="0" baseline="0" dirty="0" smtClean="0">
                <a:ln>
                  <a:noFill/>
                </a:ln>
                <a:solidFill>
                  <a:schemeClr val="tx1"/>
                </a:solidFill>
                <a:effectLst/>
                <a:latin typeface="Bookman Old Style" panose="02050604050505020204" pitchFamily="18" charset="0"/>
              </a:rPr>
              <a:t> Если персонаж просто прыгает вверх, он быстро уходит за верхнюю границу экрана. Традиционный подход «двигать камеру» в </a:t>
            </a:r>
            <a:r>
              <a:rPr kumimoji="0" lang="ru-RU" altLang="ru-RU" sz="1400" b="0" i="0" u="none" strike="noStrike" cap="none" normalizeH="0" baseline="0" dirty="0" err="1" smtClean="0">
                <a:ln>
                  <a:noFill/>
                </a:ln>
                <a:solidFill>
                  <a:schemeClr val="tx1"/>
                </a:solidFill>
                <a:effectLst/>
                <a:latin typeface="Bookman Old Style" panose="02050604050505020204" pitchFamily="18" charset="0"/>
              </a:rPr>
              <a:t>Swing</a:t>
            </a:r>
            <a:r>
              <a:rPr kumimoji="0" lang="ru-RU" altLang="ru-RU" sz="1400" b="0" i="0" u="none" strike="noStrike" cap="none" normalizeH="0" baseline="0" dirty="0" smtClean="0">
                <a:ln>
                  <a:noFill/>
                </a:ln>
                <a:solidFill>
                  <a:schemeClr val="tx1"/>
                </a:solidFill>
                <a:effectLst/>
                <a:latin typeface="Bookman Old Style" panose="02050604050505020204" pitchFamily="18" charset="0"/>
              </a:rPr>
              <a:t> реализовать сложно, так как </a:t>
            </a:r>
            <a:r>
              <a:rPr kumimoji="0" lang="ru-RU" altLang="ru-RU" sz="1400" b="0" i="0" u="none" strike="noStrike" cap="none" normalizeH="0" baseline="0" dirty="0" err="1" smtClean="0">
                <a:ln>
                  <a:noFill/>
                </a:ln>
                <a:solidFill>
                  <a:schemeClr val="tx1"/>
                </a:solidFill>
                <a:effectLst/>
                <a:latin typeface="Bookman Old Style" panose="02050604050505020204" pitchFamily="18" charset="0"/>
              </a:rPr>
              <a:t>JPanel</a:t>
            </a:r>
            <a:r>
              <a:rPr kumimoji="0" lang="ru-RU" altLang="ru-RU" sz="1400" b="0" i="0" u="none" strike="noStrike" cap="none" normalizeH="0" baseline="0" dirty="0" smtClean="0">
                <a:ln>
                  <a:noFill/>
                </a:ln>
                <a:solidFill>
                  <a:schemeClr val="tx1"/>
                </a:solidFill>
                <a:effectLst/>
                <a:latin typeface="Bookman Old Style" panose="02050604050505020204" pitchFamily="18" charset="0"/>
              </a:rPr>
              <a:t> статичен.</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400" b="1" i="0" u="none" strike="noStrike" cap="none" normalizeH="0" baseline="0" dirty="0" smtClean="0">
                <a:ln>
                  <a:noFill/>
                </a:ln>
                <a:solidFill>
                  <a:schemeClr val="tx1"/>
                </a:solidFill>
                <a:effectLst/>
                <a:latin typeface="Bookman Old Style" panose="02050604050505020204" pitchFamily="18" charset="0"/>
              </a:rPr>
              <a:t>Решение:</a:t>
            </a:r>
            <a:r>
              <a:rPr kumimoji="0" lang="ru-RU" altLang="ru-RU" sz="1400" b="0" i="0" u="none" strike="noStrike" cap="none" normalizeH="0" baseline="0" dirty="0" smtClean="0">
                <a:ln>
                  <a:noFill/>
                </a:ln>
                <a:solidFill>
                  <a:schemeClr val="tx1"/>
                </a:solidFill>
                <a:effectLst/>
                <a:latin typeface="Bookman Old Style" panose="02050604050505020204" pitchFamily="18" charset="0"/>
              </a:rPr>
              <a:t> Реализован принцип </a:t>
            </a:r>
            <a:r>
              <a:rPr kumimoji="0" lang="ru-RU" altLang="ru-RU" sz="1400" i="0" u="none" strike="noStrike" cap="none" normalizeH="0" baseline="0" dirty="0" smtClean="0">
                <a:ln>
                  <a:noFill/>
                </a:ln>
                <a:solidFill>
                  <a:schemeClr val="tx1"/>
                </a:solidFill>
                <a:effectLst/>
                <a:latin typeface="Bookman Old Style" panose="02050604050505020204" pitchFamily="18" charset="0"/>
              </a:rPr>
              <a:t>относительного движения. Когда игрок достигает «порога» (верхняя треть экрана), вместо того чтобы двигать игрока выше, программа начинает двигать все платформы вниз на ту же величину. Это создает иллюзию бесконечного подъема вверх при зафиксированном игроке.</a:t>
            </a:r>
          </a:p>
        </p:txBody>
      </p:sp>
    </p:spTree>
    <p:extLst>
      <p:ext uri="{BB962C8B-B14F-4D97-AF65-F5344CB8AC3E}">
        <p14:creationId xmlns:p14="http://schemas.microsoft.com/office/powerpoint/2010/main" val="359193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67438" y="608226"/>
            <a:ext cx="5550879" cy="2308324"/>
          </a:xfrm>
          <a:prstGeom prst="rect">
            <a:avLst/>
          </a:prstGeom>
        </p:spPr>
        <p:txBody>
          <a:bodyPr wrap="none">
            <a:spAutoFit/>
          </a:bodyPr>
          <a:lstStyle/>
          <a:p>
            <a:r>
              <a:rPr lang="ru-RU" dirty="0" err="1" smtClean="0"/>
              <a:t>Репозиторий</a:t>
            </a:r>
            <a:r>
              <a:rPr lang="ru-RU" dirty="0" smtClean="0"/>
              <a:t> </a:t>
            </a:r>
            <a:r>
              <a:rPr lang="en-US" dirty="0" smtClean="0"/>
              <a:t>GitHub</a:t>
            </a:r>
            <a:r>
              <a:rPr lang="ru-RU" dirty="0" smtClean="0"/>
              <a:t>:</a:t>
            </a:r>
            <a:endParaRPr lang="ru-RU" dirty="0"/>
          </a:p>
          <a:p>
            <a:r>
              <a:rPr lang="ru-RU" dirty="0" smtClean="0">
                <a:hlinkClick r:id="rId2"/>
              </a:rPr>
              <a:t>https</a:t>
            </a:r>
            <a:r>
              <a:rPr lang="ru-RU" dirty="0">
                <a:hlinkClick r:id="rId2"/>
              </a:rPr>
              <a:t>://</a:t>
            </a:r>
            <a:r>
              <a:rPr lang="ru-RU" dirty="0" smtClean="0">
                <a:hlinkClick r:id="rId2"/>
              </a:rPr>
              <a:t>github.com/whtspcc/doodle_jump_java</a:t>
            </a:r>
            <a:r>
              <a:rPr lang="en-US" dirty="0" smtClean="0"/>
              <a:t/>
            </a:r>
            <a:br>
              <a:rPr lang="en-US" dirty="0" smtClean="0"/>
            </a:br>
            <a:r>
              <a:rPr lang="en-US" dirty="0" smtClean="0"/>
              <a:t/>
            </a:r>
            <a:br>
              <a:rPr lang="en-US" dirty="0" smtClean="0"/>
            </a:br>
            <a:r>
              <a:rPr lang="ru-RU" dirty="0" err="1"/>
              <a:t>А</a:t>
            </a:r>
            <a:r>
              <a:rPr lang="ru-RU" dirty="0" err="1" smtClean="0"/>
              <a:t>ссеты</a:t>
            </a:r>
            <a:r>
              <a:rPr lang="ru-RU" dirty="0" smtClean="0"/>
              <a:t> и звуки брал на:</a:t>
            </a:r>
            <a:br>
              <a:rPr lang="ru-RU" dirty="0" smtClean="0"/>
            </a:br>
            <a:r>
              <a:rPr lang="en-US" dirty="0">
                <a:hlinkClick r:id="rId3"/>
              </a:rPr>
              <a:t>https://</a:t>
            </a:r>
            <a:r>
              <a:rPr lang="en-US" dirty="0" smtClean="0">
                <a:hlinkClick r:id="rId3"/>
              </a:rPr>
              <a:t>github.com/LunaTMT/Doodle-Jump</a:t>
            </a:r>
            <a:endParaRPr lang="ru-RU" dirty="0" smtClean="0"/>
          </a:p>
          <a:p>
            <a:r>
              <a:rPr lang="en-US" dirty="0">
                <a:hlinkClick r:id="rId4"/>
              </a:rPr>
              <a:t>https://www.spriters-resource.com/mobile/doodlejump</a:t>
            </a:r>
            <a:r>
              <a:rPr lang="en-US" dirty="0" smtClean="0">
                <a:hlinkClick r:id="rId4"/>
              </a:rPr>
              <a:t>/</a:t>
            </a:r>
            <a:endParaRPr lang="ru-RU" dirty="0" smtClean="0"/>
          </a:p>
          <a:p>
            <a:endParaRPr lang="ru-RU" dirty="0"/>
          </a:p>
          <a:p>
            <a:r>
              <a:rPr lang="ru-RU" dirty="0" smtClean="0"/>
              <a:t>Спасибо за внимание.</a:t>
            </a:r>
            <a:endParaRPr lang="ru-RU" dirty="0"/>
          </a:p>
        </p:txBody>
      </p:sp>
    </p:spTree>
    <p:extLst>
      <p:ext uri="{BB962C8B-B14F-4D97-AF65-F5344CB8AC3E}">
        <p14:creationId xmlns:p14="http://schemas.microsoft.com/office/powerpoint/2010/main" val="417277768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TotalTime>
  <Words>285</Words>
  <Application>Microsoft Office PowerPoint</Application>
  <PresentationFormat>Широкоэкранный</PresentationFormat>
  <Paragraphs>57</Paragraphs>
  <Slides>8</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8</vt:i4>
      </vt:variant>
    </vt:vector>
  </HeadingPairs>
  <TitlesOfParts>
    <vt:vector size="16" baseType="lpstr">
      <vt:lpstr>Arial</vt:lpstr>
      <vt:lpstr>Bell MT</vt:lpstr>
      <vt:lpstr>Book Antiqua</vt:lpstr>
      <vt:lpstr>Bookman Old Style</vt:lpstr>
      <vt:lpstr>Calibri</vt:lpstr>
      <vt:lpstr>Calibri Light</vt:lpstr>
      <vt:lpstr>Century</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admin</dc:creator>
  <cp:lastModifiedBy>admin</cp:lastModifiedBy>
  <cp:revision>10</cp:revision>
  <dcterms:created xsi:type="dcterms:W3CDTF">2026-05-12T16:05:50Z</dcterms:created>
  <dcterms:modified xsi:type="dcterms:W3CDTF">2026-05-12T19:04:55Z</dcterms:modified>
</cp:coreProperties>
</file>