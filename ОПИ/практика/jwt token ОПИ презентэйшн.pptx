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16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77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0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63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04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3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37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86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87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70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3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44BD5-6EE1-4456-9455-9102088C583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9715B-E38A-4E4A-8DFD-3C7FAE188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35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4710" y="2164251"/>
            <a:ext cx="97892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atin typeface="Californian FB" panose="0207040306080B030204" pitchFamily="18" charset="0"/>
              </a:rPr>
              <a:t>JWT</a:t>
            </a:r>
          </a:p>
          <a:p>
            <a:pPr algn="ctr"/>
            <a:r>
              <a:rPr lang="en-US" sz="3600" dirty="0" smtClean="0">
                <a:latin typeface="Californian FB" panose="0207040306080B030204" pitchFamily="18" charset="0"/>
              </a:rPr>
              <a:t>(JSON Web Token)</a:t>
            </a:r>
            <a:endParaRPr lang="ru-RU" sz="3600" dirty="0">
              <a:latin typeface="Candara Light" panose="020E0502030303020204" pitchFamily="34" charset="0"/>
            </a:endParaRPr>
          </a:p>
        </p:txBody>
      </p:sp>
      <p:sp>
        <p:nvSpPr>
          <p:cNvPr id="11" name="Полилиния 10"/>
          <p:cNvSpPr/>
          <p:nvPr/>
        </p:nvSpPr>
        <p:spPr>
          <a:xfrm>
            <a:off x="-360424" y="-592228"/>
            <a:ext cx="2795571" cy="8181628"/>
          </a:xfrm>
          <a:custGeom>
            <a:avLst/>
            <a:gdLst>
              <a:gd name="connsiteX0" fmla="*/ 978045 w 2795571"/>
              <a:gd name="connsiteY0" fmla="*/ 576186 h 8181628"/>
              <a:gd name="connsiteX1" fmla="*/ 2694550 w 2795571"/>
              <a:gd name="connsiteY1" fmla="*/ 3415639 h 8181628"/>
              <a:gd name="connsiteX2" fmla="*/ 2333603 w 2795571"/>
              <a:gd name="connsiteY2" fmla="*/ 7498354 h 8181628"/>
              <a:gd name="connsiteX3" fmla="*/ 175940 w 2795571"/>
              <a:gd name="connsiteY3" fmla="*/ 7466270 h 8181628"/>
              <a:gd name="connsiteX4" fmla="*/ 216045 w 2795571"/>
              <a:gd name="connsiteY4" fmla="*/ 503996 h 8181628"/>
              <a:gd name="connsiteX5" fmla="*/ 937940 w 2795571"/>
              <a:gd name="connsiteY5" fmla="*/ 544102 h 8181628"/>
              <a:gd name="connsiteX6" fmla="*/ 978045 w 2795571"/>
              <a:gd name="connsiteY6" fmla="*/ 576186 h 818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5571" h="8181628">
                <a:moveTo>
                  <a:pt x="978045" y="576186"/>
                </a:moveTo>
                <a:cubicBezTo>
                  <a:pt x="1270813" y="1054776"/>
                  <a:pt x="2468624" y="2261944"/>
                  <a:pt x="2694550" y="3415639"/>
                </a:cubicBezTo>
                <a:cubicBezTo>
                  <a:pt x="2920476" y="4569334"/>
                  <a:pt x="2753371" y="6823249"/>
                  <a:pt x="2333603" y="7498354"/>
                </a:cubicBezTo>
                <a:cubicBezTo>
                  <a:pt x="1913835" y="8173459"/>
                  <a:pt x="528866" y="8631996"/>
                  <a:pt x="175940" y="7466270"/>
                </a:cubicBezTo>
                <a:cubicBezTo>
                  <a:pt x="-176986" y="6300544"/>
                  <a:pt x="89045" y="1657691"/>
                  <a:pt x="216045" y="503996"/>
                </a:cubicBezTo>
                <a:cubicBezTo>
                  <a:pt x="343045" y="-649699"/>
                  <a:pt x="812277" y="537418"/>
                  <a:pt x="937940" y="544102"/>
                </a:cubicBezTo>
                <a:cubicBezTo>
                  <a:pt x="1063603" y="550786"/>
                  <a:pt x="685277" y="97596"/>
                  <a:pt x="978045" y="576186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78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51315" y="777392"/>
            <a:ext cx="2013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Что такое </a:t>
            </a:r>
            <a:r>
              <a:rPr lang="en-US" sz="2400" dirty="0" smtClean="0"/>
              <a:t>JWT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932267" y="2613130"/>
            <a:ext cx="5052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JSON </a:t>
            </a:r>
            <a:r>
              <a:rPr lang="ru-RU" b="1" dirty="0" err="1"/>
              <a:t>Web</a:t>
            </a:r>
            <a:r>
              <a:rPr lang="ru-RU" b="1" dirty="0"/>
              <a:t> </a:t>
            </a:r>
            <a:r>
              <a:rPr lang="ru-RU" b="1" dirty="0" err="1"/>
              <a:t>Token</a:t>
            </a:r>
            <a:r>
              <a:rPr lang="ru-RU" b="1" dirty="0"/>
              <a:t> (JWT) </a:t>
            </a:r>
            <a:r>
              <a:rPr lang="ru-RU" dirty="0"/>
              <a:t>— это открытый стандарт (RFC 7519) для создания </a:t>
            </a:r>
            <a:r>
              <a:rPr lang="ru-RU" dirty="0" err="1"/>
              <a:t>токенов</a:t>
            </a:r>
            <a:r>
              <a:rPr lang="ru-RU" dirty="0"/>
              <a:t> доступа, основанный на формате JSON. </a:t>
            </a:r>
          </a:p>
        </p:txBody>
      </p:sp>
    </p:spTree>
    <p:extLst>
      <p:ext uri="{BB962C8B-B14F-4D97-AF65-F5344CB8AC3E}">
        <p14:creationId xmlns:p14="http://schemas.microsoft.com/office/powerpoint/2010/main" val="299450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114" y="569495"/>
            <a:ext cx="3858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Структура </a:t>
            </a:r>
            <a:r>
              <a:rPr lang="ru-RU" sz="2400" dirty="0" err="1" smtClean="0"/>
              <a:t>токена</a:t>
            </a:r>
            <a:endParaRPr lang="ru-RU" sz="2400" dirty="0"/>
          </a:p>
        </p:txBody>
      </p:sp>
      <p:pic>
        <p:nvPicPr>
          <p:cNvPr id="1034" name="Picture 10" descr="из чего состоит JW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901" y="1143454"/>
            <a:ext cx="8115920" cy="508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33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7410" y="703764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Заголовок</a:t>
            </a:r>
            <a:r>
              <a:rPr lang="ru-RU" dirty="0" smtClean="0"/>
              <a:t> указывает тип </a:t>
            </a:r>
            <a:r>
              <a:rPr lang="ru-RU" dirty="0" err="1" smtClean="0"/>
              <a:t>токена</a:t>
            </a:r>
            <a:r>
              <a:rPr lang="ru-RU" dirty="0" smtClean="0"/>
              <a:t> и алгоритм подписи (например, HS256 или RS256).</a:t>
            </a:r>
          </a:p>
          <a:p>
            <a:endParaRPr lang="ru-RU" dirty="0" smtClean="0"/>
          </a:p>
          <a:p>
            <a:r>
              <a:rPr lang="ru-RU" b="1" dirty="0" smtClean="0"/>
              <a:t>Полезная нагрузка </a:t>
            </a:r>
            <a:r>
              <a:rPr lang="ru-RU" dirty="0" smtClean="0"/>
              <a:t>— это данные, которые несут в себе определенную информацию:</a:t>
            </a:r>
          </a:p>
          <a:p>
            <a:endParaRPr lang="ru-RU" dirty="0" smtClean="0"/>
          </a:p>
          <a:p>
            <a:r>
              <a:rPr lang="ru-RU" dirty="0" err="1" smtClean="0"/>
              <a:t>iss</a:t>
            </a:r>
            <a:r>
              <a:rPr lang="ru-RU" dirty="0" smtClean="0"/>
              <a:t> (</a:t>
            </a:r>
            <a:r>
              <a:rPr lang="ru-RU" dirty="0" err="1" smtClean="0"/>
              <a:t>issuer</a:t>
            </a:r>
            <a:r>
              <a:rPr lang="ru-RU" dirty="0" smtClean="0"/>
              <a:t>) — издатель </a:t>
            </a:r>
            <a:r>
              <a:rPr lang="ru-RU" dirty="0" err="1" smtClean="0"/>
              <a:t>токена</a:t>
            </a:r>
            <a:r>
              <a:rPr lang="ru-RU" dirty="0" smtClean="0"/>
              <a:t>;</a:t>
            </a:r>
          </a:p>
          <a:p>
            <a:r>
              <a:rPr lang="ru-RU" dirty="0" err="1" smtClean="0"/>
              <a:t>sub</a:t>
            </a:r>
            <a:r>
              <a:rPr lang="ru-RU" dirty="0" smtClean="0"/>
              <a:t> (</a:t>
            </a:r>
            <a:r>
              <a:rPr lang="ru-RU" dirty="0" err="1" smtClean="0"/>
              <a:t>subject</a:t>
            </a:r>
            <a:r>
              <a:rPr lang="ru-RU" dirty="0" smtClean="0"/>
              <a:t>) — назначение </a:t>
            </a:r>
            <a:r>
              <a:rPr lang="ru-RU" dirty="0" err="1" smtClean="0"/>
              <a:t>токена</a:t>
            </a:r>
            <a:r>
              <a:rPr lang="ru-RU" dirty="0" smtClean="0"/>
              <a:t>;</a:t>
            </a:r>
          </a:p>
          <a:p>
            <a:r>
              <a:rPr lang="ru-RU" dirty="0" err="1" smtClean="0"/>
              <a:t>aud</a:t>
            </a:r>
            <a:r>
              <a:rPr lang="ru-RU" dirty="0" smtClean="0"/>
              <a:t> (</a:t>
            </a:r>
            <a:r>
              <a:rPr lang="ru-RU" dirty="0" err="1" smtClean="0"/>
              <a:t>audience</a:t>
            </a:r>
            <a:r>
              <a:rPr lang="ru-RU" dirty="0" smtClean="0"/>
              <a:t>) — аудитория, для которой предназначен </a:t>
            </a:r>
            <a:r>
              <a:rPr lang="ru-RU" dirty="0" err="1" smtClean="0"/>
              <a:t>токен</a:t>
            </a:r>
            <a:r>
              <a:rPr lang="ru-RU" dirty="0" smtClean="0"/>
              <a:t>;</a:t>
            </a:r>
          </a:p>
          <a:p>
            <a:r>
              <a:rPr lang="ru-RU" dirty="0" err="1" smtClean="0"/>
              <a:t>exp</a:t>
            </a:r>
            <a:r>
              <a:rPr lang="ru-RU" dirty="0" smtClean="0"/>
              <a:t> (</a:t>
            </a:r>
            <a:r>
              <a:rPr lang="ru-RU" dirty="0" err="1" smtClean="0"/>
              <a:t>expire</a:t>
            </a:r>
            <a:r>
              <a:rPr lang="ru-RU" dirty="0" smtClean="0"/>
              <a:t> </a:t>
            </a:r>
            <a:r>
              <a:rPr lang="ru-RU" dirty="0" err="1" smtClean="0"/>
              <a:t>time</a:t>
            </a:r>
            <a:r>
              <a:rPr lang="ru-RU" dirty="0" smtClean="0"/>
              <a:t>) — срок действия </a:t>
            </a:r>
            <a:r>
              <a:rPr lang="ru-RU" dirty="0" err="1" smtClean="0"/>
              <a:t>токена</a:t>
            </a:r>
            <a:r>
              <a:rPr lang="ru-RU" dirty="0" smtClean="0"/>
              <a:t>;</a:t>
            </a:r>
          </a:p>
          <a:p>
            <a:r>
              <a:rPr lang="ru-RU" dirty="0" err="1" smtClean="0"/>
              <a:t>nbf</a:t>
            </a:r>
            <a:r>
              <a:rPr lang="ru-RU" dirty="0" smtClean="0"/>
              <a:t> (</a:t>
            </a:r>
            <a:r>
              <a:rPr lang="ru-RU" dirty="0" err="1" smtClean="0"/>
              <a:t>not</a:t>
            </a:r>
            <a:r>
              <a:rPr lang="ru-RU" dirty="0" smtClean="0"/>
              <a:t> </a:t>
            </a:r>
            <a:r>
              <a:rPr lang="ru-RU" dirty="0" err="1" smtClean="0"/>
              <a:t>before</a:t>
            </a:r>
            <a:r>
              <a:rPr lang="ru-RU" dirty="0" smtClean="0"/>
              <a:t>) — время, до которого </a:t>
            </a:r>
            <a:r>
              <a:rPr lang="ru-RU" dirty="0" err="1" smtClean="0"/>
              <a:t>токен</a:t>
            </a:r>
            <a:r>
              <a:rPr lang="ru-RU" dirty="0" smtClean="0"/>
              <a:t> недействителен;</a:t>
            </a:r>
          </a:p>
          <a:p>
            <a:r>
              <a:rPr lang="ru-RU" dirty="0" err="1" smtClean="0"/>
              <a:t>iat</a:t>
            </a:r>
            <a:r>
              <a:rPr lang="ru-RU" dirty="0" smtClean="0"/>
              <a:t> (</a:t>
            </a:r>
            <a:r>
              <a:rPr lang="ru-RU" dirty="0" err="1" smtClean="0"/>
              <a:t>issued</a:t>
            </a:r>
            <a:r>
              <a:rPr lang="ru-RU" dirty="0" smtClean="0"/>
              <a:t> </a:t>
            </a:r>
            <a:r>
              <a:rPr lang="ru-RU" dirty="0" err="1" smtClean="0"/>
              <a:t>at</a:t>
            </a:r>
            <a:r>
              <a:rPr lang="ru-RU" dirty="0" smtClean="0"/>
              <a:t>) — время создания </a:t>
            </a:r>
            <a:r>
              <a:rPr lang="ru-RU" dirty="0" err="1" smtClean="0"/>
              <a:t>токена</a:t>
            </a:r>
            <a:r>
              <a:rPr lang="ru-RU" dirty="0" smtClean="0"/>
              <a:t>;</a:t>
            </a:r>
          </a:p>
          <a:p>
            <a:r>
              <a:rPr lang="ru-RU" dirty="0" err="1" smtClean="0"/>
              <a:t>jti</a:t>
            </a:r>
            <a:r>
              <a:rPr lang="ru-RU" dirty="0" smtClean="0"/>
              <a:t> (JWT </a:t>
            </a:r>
            <a:r>
              <a:rPr lang="ru-RU" dirty="0" err="1" smtClean="0"/>
              <a:t>id</a:t>
            </a:r>
            <a:r>
              <a:rPr lang="ru-RU" dirty="0" smtClean="0"/>
              <a:t>) — уникальный идентификатор </a:t>
            </a:r>
            <a:r>
              <a:rPr lang="ru-RU" dirty="0" err="1" smtClean="0"/>
              <a:t>токена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37410" y="51913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Криптографическая подпись создается с использованием секретного ключа, что обеспечивает целостность </a:t>
            </a:r>
            <a:r>
              <a:rPr lang="ru-RU" dirty="0" err="1" smtClean="0"/>
              <a:t>токена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82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1389" y="729916"/>
            <a:ext cx="3812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Как работает </a:t>
            </a:r>
            <a:r>
              <a:rPr lang="en-US" sz="2400" dirty="0" smtClean="0"/>
              <a:t>JWT </a:t>
            </a:r>
            <a:r>
              <a:rPr lang="ru-RU" sz="2400" dirty="0" smtClean="0"/>
              <a:t>в системе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1511" y="151987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1. Клиент выполняет вход</a:t>
            </a:r>
            <a:r>
              <a:rPr lang="ru-RU" dirty="0" smtClean="0"/>
              <a:t>, используя учетные данные и отправляя запрос на сервер.</a:t>
            </a:r>
          </a:p>
          <a:p>
            <a:endParaRPr lang="ru-RU" dirty="0" smtClean="0"/>
          </a:p>
          <a:p>
            <a:r>
              <a:rPr lang="ru-RU" b="1" dirty="0" smtClean="0"/>
              <a:t>2. Сервер проверяет </a:t>
            </a:r>
            <a:r>
              <a:rPr lang="ru-RU" dirty="0" smtClean="0"/>
              <a:t>эти учетные данные. Если они действительны, сервер генерирует JWT и отправляет его обратно клиенту. При генерации JWT-</a:t>
            </a:r>
            <a:r>
              <a:rPr lang="ru-RU" dirty="0" err="1" smtClean="0"/>
              <a:t>токена</a:t>
            </a:r>
            <a:r>
              <a:rPr lang="ru-RU" dirty="0" smtClean="0"/>
              <a:t> сервер ставит подпись секретным ключом, который хранится только в веб-приложении.</a:t>
            </a:r>
          </a:p>
          <a:p>
            <a:endParaRPr lang="ru-RU" dirty="0" smtClean="0"/>
          </a:p>
          <a:p>
            <a:r>
              <a:rPr lang="ru-RU" b="1" dirty="0" smtClean="0"/>
              <a:t>3. Клиент сохраняет JWT</a:t>
            </a:r>
            <a:r>
              <a:rPr lang="ru-RU" dirty="0" smtClean="0"/>
              <a:t>, обычно в локальном хранилище, и включает его в заголовок каждого последующего HTTP-запроса.</a:t>
            </a:r>
          </a:p>
          <a:p>
            <a:endParaRPr lang="ru-RU" dirty="0" smtClean="0"/>
          </a:p>
          <a:p>
            <a:r>
              <a:rPr lang="ru-RU" b="1" dirty="0" smtClean="0"/>
              <a:t>4. Сервер</a:t>
            </a:r>
            <a:r>
              <a:rPr lang="ru-RU" dirty="0" smtClean="0"/>
              <a:t>, получая эти запросы, проверяет JWT. Если он действителен, клиент аутентифицирован и авторизован.</a:t>
            </a:r>
            <a:endParaRPr lang="ru-RU" dirty="0"/>
          </a:p>
        </p:txBody>
      </p:sp>
      <p:pic>
        <p:nvPicPr>
          <p:cNvPr id="2050" name="Picture 2" descr="Как работает JW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901" y="729916"/>
            <a:ext cx="7743825" cy="648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38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8941" y="543397"/>
            <a:ext cx="546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Где хранится </a:t>
            </a:r>
            <a:r>
              <a:rPr lang="en-US" sz="2400" dirty="0" smtClean="0"/>
              <a:t>JWT</a:t>
            </a:r>
            <a:r>
              <a:rPr lang="ru-RU" sz="2400" dirty="0" smtClean="0"/>
              <a:t> ?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39887" y="130894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JWT хранится </a:t>
            </a:r>
            <a:r>
              <a:rPr lang="ru-RU" b="1" dirty="0" smtClean="0"/>
              <a:t>на стороне клиента</a:t>
            </a:r>
            <a:r>
              <a:rPr lang="ru-RU" dirty="0" smtClean="0"/>
              <a:t>, потому что это </a:t>
            </a:r>
            <a:r>
              <a:rPr lang="ru-RU" dirty="0" err="1" smtClean="0"/>
              <a:t>stateless</a:t>
            </a:r>
            <a:r>
              <a:rPr lang="ru-RU" dirty="0" smtClean="0"/>
              <a:t>-механизм (сервер не хранит сессию).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78941" y="2259163"/>
            <a:ext cx="2244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Основные варианты: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00838" y="2842736"/>
            <a:ext cx="614802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Токен</a:t>
            </a:r>
            <a:r>
              <a:rPr lang="ru-RU" b="1" dirty="0" smtClean="0"/>
              <a:t> хранится в </a:t>
            </a:r>
            <a:r>
              <a:rPr lang="en-US" b="1" dirty="0" smtClean="0"/>
              <a:t>cookie:</a:t>
            </a:r>
            <a:endParaRPr lang="ru-RU" b="1" dirty="0" smtClean="0"/>
          </a:p>
          <a:p>
            <a:r>
              <a:rPr lang="en-US" i="1" dirty="0" smtClean="0"/>
              <a:t>Set-Cookie: </a:t>
            </a:r>
            <a:r>
              <a:rPr lang="en-US" i="1" dirty="0" err="1" smtClean="0"/>
              <a:t>accessToken</a:t>
            </a:r>
            <a:r>
              <a:rPr lang="en-US" i="1" dirty="0" smtClean="0"/>
              <a:t>=</a:t>
            </a:r>
            <a:r>
              <a:rPr lang="en-US" i="1" dirty="0" err="1" smtClean="0"/>
              <a:t>eyJhbGciOi</a:t>
            </a:r>
            <a:r>
              <a:rPr lang="en-US" i="1" dirty="0" smtClean="0"/>
              <a:t>...; </a:t>
            </a:r>
            <a:r>
              <a:rPr lang="en-US" i="1" dirty="0" err="1" smtClean="0"/>
              <a:t>HttpOnly</a:t>
            </a:r>
            <a:r>
              <a:rPr lang="en-US" i="1" dirty="0" smtClean="0"/>
              <a:t>; Secure; </a:t>
            </a:r>
            <a:r>
              <a:rPr lang="en-US" i="1" dirty="0" err="1" smtClean="0"/>
              <a:t>SameSite</a:t>
            </a:r>
            <a:r>
              <a:rPr lang="en-US" i="1" dirty="0" smtClean="0"/>
              <a:t>=Strict</a:t>
            </a:r>
            <a:endParaRPr lang="ru-RU" i="1" dirty="0" smtClean="0"/>
          </a:p>
          <a:p>
            <a:endParaRPr lang="ru-RU" dirty="0" smtClean="0"/>
          </a:p>
          <a:p>
            <a:r>
              <a:rPr lang="ru-RU" dirty="0" smtClean="0"/>
              <a:t>Плюсы:</a:t>
            </a:r>
          </a:p>
          <a:p>
            <a:r>
              <a:rPr lang="ru-RU" dirty="0" smtClean="0"/>
              <a:t>Недоступен через </a:t>
            </a:r>
            <a:r>
              <a:rPr lang="en-US" dirty="0" smtClean="0"/>
              <a:t>JavaScript (</a:t>
            </a:r>
            <a:r>
              <a:rPr lang="ru-RU" dirty="0" smtClean="0"/>
              <a:t>защита от </a:t>
            </a:r>
            <a:r>
              <a:rPr lang="en-US" dirty="0" smtClean="0"/>
              <a:t>XSS)</a:t>
            </a:r>
            <a:endParaRPr lang="ru-RU" dirty="0" smtClean="0"/>
          </a:p>
          <a:p>
            <a:r>
              <a:rPr lang="ru-RU" dirty="0" smtClean="0"/>
              <a:t>Автоматически отправляется браузером</a:t>
            </a:r>
          </a:p>
          <a:p>
            <a:r>
              <a:rPr lang="ru-RU" dirty="0" smtClean="0"/>
              <a:t>Минусы:</a:t>
            </a:r>
          </a:p>
          <a:p>
            <a:r>
              <a:rPr lang="ru-RU" dirty="0" smtClean="0"/>
              <a:t>Нужно учитывать </a:t>
            </a:r>
            <a:r>
              <a:rPr lang="en-US" dirty="0" smtClean="0"/>
              <a:t>CSRF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548865" y="2842736"/>
            <a:ext cx="49317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 smtClean="0"/>
              <a:t>Токен</a:t>
            </a:r>
            <a:r>
              <a:rPr lang="ru-RU" b="1" dirty="0" smtClean="0"/>
              <a:t> хранится в</a:t>
            </a:r>
          </a:p>
          <a:p>
            <a:r>
              <a:rPr lang="ru-RU" b="1" dirty="0" smtClean="0"/>
              <a:t>Веб-хранилище </a:t>
            </a:r>
            <a:r>
              <a:rPr lang="ru-RU" dirty="0" smtClean="0"/>
              <a:t>(</a:t>
            </a:r>
            <a:r>
              <a:rPr lang="en-US" dirty="0" err="1" smtClean="0"/>
              <a:t>localStorage</a:t>
            </a:r>
            <a:r>
              <a:rPr lang="en-US" dirty="0" smtClean="0"/>
              <a:t> </a:t>
            </a:r>
            <a:r>
              <a:rPr lang="ru-RU" dirty="0" smtClean="0"/>
              <a:t>или </a:t>
            </a:r>
            <a:r>
              <a:rPr lang="en-US" dirty="0" err="1" smtClean="0"/>
              <a:t>sessionStorage</a:t>
            </a:r>
            <a:r>
              <a:rPr lang="en-US" dirty="0" smtClean="0"/>
              <a:t>)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112475" y="2628495"/>
            <a:ext cx="0" cy="34681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548865" y="32582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i="1" dirty="0" err="1" smtClean="0"/>
              <a:t>localStorage.setItem</a:t>
            </a:r>
            <a:r>
              <a:rPr lang="en-US" i="1" dirty="0" smtClean="0"/>
              <a:t>("token", </a:t>
            </a:r>
            <a:r>
              <a:rPr lang="en-US" i="1" dirty="0" err="1" smtClean="0"/>
              <a:t>jwt</a:t>
            </a:r>
            <a:r>
              <a:rPr lang="en-US" i="1" dirty="0" smtClean="0"/>
              <a:t>);</a:t>
            </a:r>
            <a:endParaRPr lang="en-US" i="1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548865" y="413539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Плюсы:</a:t>
            </a:r>
          </a:p>
          <a:p>
            <a:r>
              <a:rPr lang="ru-RU" dirty="0" smtClean="0"/>
              <a:t>Просто использовать</a:t>
            </a:r>
          </a:p>
          <a:p>
            <a:r>
              <a:rPr lang="ru-RU" dirty="0" smtClean="0"/>
              <a:t>Удобно для SPA</a:t>
            </a:r>
          </a:p>
          <a:p>
            <a:r>
              <a:rPr lang="ru-RU" dirty="0" smtClean="0"/>
              <a:t>Минусы:</a:t>
            </a:r>
          </a:p>
          <a:p>
            <a:r>
              <a:rPr lang="ru-RU" dirty="0" smtClean="0"/>
              <a:t>Уязвим к XSS (любой </a:t>
            </a:r>
            <a:r>
              <a:rPr lang="ru-RU" dirty="0" err="1" smtClean="0"/>
              <a:t>injected</a:t>
            </a:r>
            <a:r>
              <a:rPr lang="ru-RU" dirty="0" smtClean="0"/>
              <a:t> JS может украсть </a:t>
            </a:r>
            <a:r>
              <a:rPr lang="ru-RU" dirty="0" err="1" smtClean="0"/>
              <a:t>токен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929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2021" y="553453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20345" y="136970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 smtClean="0">
                <a:solidFill>
                  <a:srgbClr val="28649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import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jwt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datetime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, secrets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SECRET_KEY =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secrets.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token_hex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b="0" i="0" dirty="0" smtClean="0">
                <a:solidFill>
                  <a:srgbClr val="009999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32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payload = 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{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'sub'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: username,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'role'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: role,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</a:t>
            </a:r>
            <a:r>
              <a:rPr lang="en-US" b="0" i="0" dirty="0" err="1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iat</a:t>
            </a:r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: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datetime.datetime.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utcnow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()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,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</a:t>
            </a:r>
            <a:r>
              <a:rPr lang="en-US" b="0" i="0" dirty="0" err="1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exp</a:t>
            </a:r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: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datetime.datetime.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utcnow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()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+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datetime.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timedelta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minutes=</a:t>
            </a:r>
            <a:r>
              <a:rPr lang="en-US" b="0" i="0" dirty="0" smtClean="0">
                <a:solidFill>
                  <a:srgbClr val="009999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30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}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encode_token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jwt.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encode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payload, SECRET_KEY, algorithm=</a:t>
            </a:r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'HS256'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……………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some code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………………</a:t>
            </a:r>
            <a:endParaRPr lang="en-US" b="0" i="0" dirty="0" smtClean="0">
              <a:solidFill>
                <a:srgbClr val="AAAAAA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decoded_token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= </a:t>
            </a:r>
            <a:r>
              <a:rPr lang="en-US" b="0" i="0" dirty="0" err="1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jwt.</a:t>
            </a:r>
            <a:r>
              <a:rPr lang="en-US" b="0" i="0" dirty="0" err="1" smtClean="0">
                <a:solidFill>
                  <a:srgbClr val="0086B3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decode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b="0" i="0" dirty="0" smtClean="0">
                <a:solidFill>
                  <a:srgbClr val="2F323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token, SECRET_KEY, algorithms=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[</a:t>
            </a:r>
            <a:r>
              <a:rPr lang="en-US" b="0" i="0" dirty="0" smtClean="0">
                <a:solidFill>
                  <a:srgbClr val="DD1144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'HS256'</a:t>
            </a:r>
            <a:r>
              <a:rPr lang="en-US" b="0" i="0" dirty="0" smtClean="0">
                <a:solidFill>
                  <a:srgbClr val="777777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])</a:t>
            </a:r>
            <a:endParaRPr lang="en-US" b="0" i="0" dirty="0">
              <a:solidFill>
                <a:srgbClr val="444444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216345" y="784285"/>
            <a:ext cx="42919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Предположим, у нас есть веб-приложение, серверная часть которого написана на </a:t>
            </a:r>
            <a:r>
              <a:rPr lang="ru-RU" dirty="0" err="1" smtClean="0"/>
              <a:t>Python</a:t>
            </a:r>
            <a:r>
              <a:rPr lang="ru-RU" dirty="0" smtClean="0"/>
              <a:t>. </a:t>
            </a:r>
          </a:p>
          <a:p>
            <a:endParaRPr lang="ru-RU" dirty="0"/>
          </a:p>
          <a:p>
            <a:r>
              <a:rPr lang="ru-RU" dirty="0" smtClean="0"/>
              <a:t>Импортируем библиотеку </a:t>
            </a:r>
            <a:r>
              <a:rPr lang="ru-RU" i="1" dirty="0" err="1" smtClean="0"/>
              <a:t>jwt</a:t>
            </a:r>
            <a:r>
              <a:rPr lang="ru-RU" dirty="0" smtClean="0"/>
              <a:t>, генерируем секретный ключ и создаем логику кодирования и декодирования значений для </a:t>
            </a:r>
            <a:r>
              <a:rPr lang="ru-RU" dirty="0" err="1" smtClean="0"/>
              <a:t>токена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14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Регистрация пользовател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4" y="1066884"/>
            <a:ext cx="703897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788443" y="1395747"/>
            <a:ext cx="34249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 первой странице пользователь вводит имя пользователя и пароль, а также выбирает свою роль (обычный пользователь или администратор).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715919" y="3881111"/>
            <a:ext cx="39680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После заполнения формы на веб-сервер отправляется POST-запрос со всей необходимой информацией. На сервере генерируется JWT-</a:t>
            </a:r>
            <a:r>
              <a:rPr lang="ru-RU" dirty="0" err="1" smtClean="0"/>
              <a:t>токен</a:t>
            </a:r>
            <a:r>
              <a:rPr lang="ru-RU" dirty="0" smtClean="0"/>
              <a:t> с помощью секретного ключа и алгоритма HS256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85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524000" y="12440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После он отправляется пользователю и сохраняется в </a:t>
            </a:r>
            <a:r>
              <a:rPr lang="ru-RU" dirty="0" err="1" smtClean="0"/>
              <a:t>local</a:t>
            </a:r>
            <a:r>
              <a:rPr lang="ru-RU" dirty="0" smtClean="0"/>
              <a:t> </a:t>
            </a:r>
            <a:r>
              <a:rPr lang="ru-RU" dirty="0" err="1" smtClean="0"/>
              <a:t>storage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5122" name="Picture 2" descr="Local stor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115" y="2468262"/>
            <a:ext cx="93249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28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Личный кабине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1" y="1822785"/>
            <a:ext cx="64960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082590" y="1137581"/>
            <a:ext cx="453991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Далее для входа в личный профиль достаточно перейти на соответствующую страницу. </a:t>
            </a:r>
          </a:p>
          <a:p>
            <a:r>
              <a:rPr lang="ru-RU" dirty="0" smtClean="0"/>
              <a:t>При этом сервис сформирует и отправит GET-запрос на сервер с сохраненным </a:t>
            </a:r>
            <a:r>
              <a:rPr lang="ru-RU" dirty="0" err="1" smtClean="0"/>
              <a:t>токеном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После расшифровки и декодирования </a:t>
            </a:r>
            <a:r>
              <a:rPr lang="ru-RU" dirty="0" err="1" smtClean="0"/>
              <a:t>токена</a:t>
            </a:r>
            <a:r>
              <a:rPr lang="ru-RU" dirty="0" smtClean="0"/>
              <a:t> сервер верифицирует пользователя и его роль, далее предоставляет ему личный кабинет.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630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291390" y="104442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Если обычный пользователь попытается перейти на панель администратора, появится ошибка: </a:t>
            </a:r>
            <a:endParaRPr lang="ru-RU" dirty="0"/>
          </a:p>
        </p:txBody>
      </p:sp>
      <p:pic>
        <p:nvPicPr>
          <p:cNvPr id="7170" name="Picture 2" descr="Ошибки админ панел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50" y="1754925"/>
            <a:ext cx="5143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7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58779" y="4749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Теперь попробуем пройти этап регистрации, но уже выбрав роль «Администратор»:</a:t>
            </a:r>
            <a:endParaRPr lang="ru-RU" dirty="0"/>
          </a:p>
        </p:txBody>
      </p:sp>
      <p:pic>
        <p:nvPicPr>
          <p:cNvPr id="8194" name="Picture 2" descr="Регистрация в роли администратор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30" y="1427748"/>
            <a:ext cx="6696075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108551" y="1121261"/>
            <a:ext cx="2568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Мы получим новый </a:t>
            </a:r>
            <a:r>
              <a:rPr lang="en-US" dirty="0" smtClean="0"/>
              <a:t>JWT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31805" y="2119246"/>
            <a:ext cx="37137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Теперь с таким </a:t>
            </a:r>
            <a:r>
              <a:rPr lang="ru-RU" dirty="0" err="1" smtClean="0"/>
              <a:t>токеном</a:t>
            </a:r>
            <a:r>
              <a:rPr lang="ru-RU" dirty="0" smtClean="0"/>
              <a:t> мы сможем без проблем посетить панель администратора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1384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5241" y="593558"/>
            <a:ext cx="301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Использованная литература: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06185" y="1335324"/>
            <a:ext cx="5700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https://blog.skillfactory.ru/chto-takoe-json-web-token-jwt/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906185" y="1960966"/>
            <a:ext cx="3713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https://habr.com/ru/articles/340146/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3970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569</Words>
  <Application>Microsoft Office PowerPoint</Application>
  <PresentationFormat>Широкоэкранный</PresentationFormat>
  <Paragraphs>73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Californian FB</vt:lpstr>
      <vt:lpstr>Candara Light</vt:lpstr>
      <vt:lpstr>Gadugi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6</cp:revision>
  <dcterms:created xsi:type="dcterms:W3CDTF">2026-02-24T12:38:32Z</dcterms:created>
  <dcterms:modified xsi:type="dcterms:W3CDTF">2026-02-24T14:44:31Z</dcterms:modified>
</cp:coreProperties>
</file>