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8CA4A-8F8B-4D2A-92CE-32A151E89658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E2C0C-93EC-4C8C-96DF-498B7DC9B0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6673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8CA4A-8F8B-4D2A-92CE-32A151E89658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E2C0C-93EC-4C8C-96DF-498B7DC9B0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0012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8CA4A-8F8B-4D2A-92CE-32A151E89658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E2C0C-93EC-4C8C-96DF-498B7DC9B0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0615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8CA4A-8F8B-4D2A-92CE-32A151E89658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E2C0C-93EC-4C8C-96DF-498B7DC9B0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3532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8CA4A-8F8B-4D2A-92CE-32A151E89658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E2C0C-93EC-4C8C-96DF-498B7DC9B0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9005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8CA4A-8F8B-4D2A-92CE-32A151E89658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E2C0C-93EC-4C8C-96DF-498B7DC9B0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6159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8CA4A-8F8B-4D2A-92CE-32A151E89658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E2C0C-93EC-4C8C-96DF-498B7DC9B0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6133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8CA4A-8F8B-4D2A-92CE-32A151E89658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E2C0C-93EC-4C8C-96DF-498B7DC9B0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5385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8CA4A-8F8B-4D2A-92CE-32A151E89658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E2C0C-93EC-4C8C-96DF-498B7DC9B0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8686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8CA4A-8F8B-4D2A-92CE-32A151E89658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E2C0C-93EC-4C8C-96DF-498B7DC9B0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2797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8CA4A-8F8B-4D2A-92CE-32A151E89658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E2C0C-93EC-4C8C-96DF-498B7DC9B0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7824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38CA4A-8F8B-4D2A-92CE-32A151E89658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6E2C0C-93EC-4C8C-96DF-498B7DC9B0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3778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14336" y="2085473"/>
            <a:ext cx="7900737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Доклад</a:t>
            </a:r>
          </a:p>
          <a:p>
            <a:pPr algn="ctr"/>
            <a:r>
              <a:rPr lang="ru-RU" dirty="0" smtClean="0">
                <a:latin typeface="Cambria" panose="02040503050406030204" pitchFamily="18" charset="0"/>
                <a:ea typeface="Cambria" panose="02040503050406030204" pitchFamily="18" charset="0"/>
              </a:rPr>
              <a:t>На тему</a:t>
            </a:r>
          </a:p>
          <a:p>
            <a:pPr algn="ctr"/>
            <a:r>
              <a:rPr lang="ru-RU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«Внедрение зависимостей и инверсия управления»</a:t>
            </a:r>
            <a:endParaRPr lang="ru-RU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 flipH="1">
            <a:off x="8941064" y="5117432"/>
            <a:ext cx="31273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latin typeface="+mj-lt"/>
              </a:rPr>
              <a:t>Выполнил:</a:t>
            </a:r>
            <a:br>
              <a:rPr lang="ru-RU" sz="1400" dirty="0" smtClean="0">
                <a:latin typeface="+mj-lt"/>
              </a:rPr>
            </a:br>
            <a:r>
              <a:rPr lang="ru-RU" sz="1400" dirty="0" smtClean="0">
                <a:latin typeface="+mj-lt"/>
              </a:rPr>
              <a:t>Студент ФИСТ ПИбд-12 Власенко И. А.</a:t>
            </a:r>
            <a:endParaRPr lang="ru-RU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40427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76865" y="807308"/>
            <a:ext cx="4786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Начнем с примера:</a:t>
            </a:r>
            <a:endParaRPr lang="ru-RU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356" y="1673524"/>
            <a:ext cx="7924800" cy="37052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8864" y="5783300"/>
            <a:ext cx="5099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Cambria" panose="02040503050406030204" pitchFamily="18" charset="0"/>
                <a:ea typeface="Cambria" panose="02040503050406030204" pitchFamily="18" charset="0"/>
              </a:rPr>
              <a:t>Как делать «плохо» (жесткая зависимость)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4011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flipH="1">
            <a:off x="1330822" y="774356"/>
            <a:ext cx="39990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Как решить эту проблему?</a:t>
            </a:r>
            <a:endParaRPr lang="ru-RU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857" y="2059588"/>
            <a:ext cx="3629025" cy="9429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00857" y="1533737"/>
            <a:ext cx="5700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Cambria" panose="02040503050406030204" pitchFamily="18" charset="0"/>
                <a:ea typeface="Cambria" panose="02040503050406030204" pitchFamily="18" charset="0"/>
              </a:rPr>
              <a:t>Создаем абстракцию: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2875" y="3361248"/>
            <a:ext cx="5711397" cy="28960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39481" y="2883243"/>
            <a:ext cx="4143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Cambria" panose="02040503050406030204" pitchFamily="18" charset="0"/>
                <a:ea typeface="Cambria" panose="02040503050406030204" pitchFamily="18" charset="0"/>
              </a:rPr>
              <a:t>Меняем класс: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4864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34716" y="743580"/>
            <a:ext cx="775180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Внедрение зависимостей (</a:t>
            </a: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DI)</a:t>
            </a:r>
            <a:r>
              <a:rPr lang="ru-RU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smtClean="0">
                <a:latin typeface="Cambria" panose="02040503050406030204" pitchFamily="18" charset="0"/>
                <a:ea typeface="Cambria" panose="02040503050406030204" pitchFamily="18" charset="0"/>
              </a:rPr>
              <a:t>— это паттерн, при котором объект получает свои зависимости извне, а не создает их сам. Это позволяет нам легко подменять одни детали системы на другие, не переписывая основной код.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4604085" y="2351786"/>
            <a:ext cx="7803399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Благодаря DI мы смогли подсунуть классу 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UserNotification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любую реализацию: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Нужен SMS? Передаем 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SmsService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kumimoji="0" lang="en-US" alt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Нужен 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Email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? Передаем 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EmailService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kumimoji="0" lang="en-US" alt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Нужен тест? Передаем 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MockMessageService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(пустышку, которая ничего не отправляет).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034716" y="4750664"/>
            <a:ext cx="839804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Важно упомянуть, что DI — это реализация пятого принципа SOLID: </a:t>
            </a:r>
            <a:r>
              <a:rPr lang="ru-RU" sz="1600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Dependency</a:t>
            </a:r>
            <a:r>
              <a:rPr lang="ru-RU" sz="16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sz="1600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Inversion</a:t>
            </a:r>
            <a:r>
              <a:rPr lang="ru-RU" sz="16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sz="1600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Principle</a:t>
            </a:r>
            <a:r>
              <a:rPr lang="ru-RU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 (Принцип инверсии зависимостей).</a:t>
            </a:r>
          </a:p>
          <a:p>
            <a:endParaRPr lang="ru-RU" sz="16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ru-RU" sz="1600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«Модули верхних уровней не должны зависеть от модулей нижних уровней. Оба должны зависеть от абстракций»</a:t>
            </a:r>
            <a:endParaRPr lang="ru-RU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400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43789" y="689810"/>
            <a:ext cx="45238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Расширим наш пример:</a:t>
            </a:r>
            <a:endParaRPr lang="ru-RU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0153" y="1611480"/>
            <a:ext cx="6429375" cy="3057525"/>
          </a:xfrm>
          <a:prstGeom prst="rect">
            <a:avLst/>
          </a:prstGeom>
        </p:spPr>
      </p:pic>
      <p:pic>
        <p:nvPicPr>
          <p:cNvPr id="2050" name="Picture 2" descr="https://i.pinimg.com/736x/87/6b/ec/876becbef4ad0a5e419d6ff3d53cae0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8800" y="4561728"/>
            <a:ext cx="2160837" cy="1799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010652" y="5105829"/>
            <a:ext cx="61681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Cambria" panose="02040503050406030204" pitchFamily="18" charset="0"/>
                <a:ea typeface="Cambria" panose="02040503050406030204" pitchFamily="18" charset="0"/>
              </a:rPr>
              <a:t>Мы сами управляем жизненным циклом программы. Мы должны знать все.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734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128" y="1271839"/>
            <a:ext cx="7353300" cy="37528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9622" y="786063"/>
            <a:ext cx="2935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Cambria" panose="02040503050406030204" pitchFamily="18" charset="0"/>
                <a:ea typeface="Cambria" panose="02040503050406030204" pitchFamily="18" charset="0"/>
              </a:rPr>
              <a:t>С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IoC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</p:txBody>
      </p:sp>
      <p:pic>
        <p:nvPicPr>
          <p:cNvPr id="3076" name="Picture 4" descr="Изображение пина-истории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1291" y="3818020"/>
            <a:ext cx="2279008" cy="2297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2532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909010" y="1312857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Inversion</a:t>
            </a:r>
            <a:r>
              <a:rPr lang="ru-RU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of</a:t>
            </a:r>
            <a:r>
              <a:rPr lang="ru-RU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Control</a:t>
            </a:r>
            <a:r>
              <a:rPr lang="ru-RU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(Инверсия управления)</a:t>
            </a:r>
            <a:r>
              <a:rPr lang="ru-RU" dirty="0" smtClean="0">
                <a:latin typeface="Cambria" panose="02040503050406030204" pitchFamily="18" charset="0"/>
                <a:ea typeface="Cambria" panose="02040503050406030204" pitchFamily="18" charset="0"/>
              </a:rPr>
              <a:t> — это архитектурный принцип, при котором поток управления программой передается от вашего кода внешнему каркасу (</a:t>
            </a:r>
            <a:r>
              <a:rPr lang="ru-RU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фреймворку</a:t>
            </a:r>
            <a:r>
              <a:rPr lang="ru-RU" dirty="0" smtClean="0">
                <a:latin typeface="Cambria" panose="02040503050406030204" pitchFamily="18" charset="0"/>
                <a:ea typeface="Cambria" panose="02040503050406030204" pitchFamily="18" charset="0"/>
              </a:rPr>
              <a:t>).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5608233" y="2882164"/>
            <a:ext cx="628547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Традиционный подход: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Твой код вызывает методы библиотек. Ты контролируешь последовательность действий: «Создать объект А» -&gt; «Вызвать метод Б»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altLang="ru-RU" dirty="0" smtClean="0">
                <a:latin typeface="Cambria" panose="02040503050406030204" pitchFamily="18" charset="0"/>
                <a:ea typeface="Cambria" panose="02040503050406030204" pitchFamily="18" charset="0"/>
              </a:rPr>
              <a:t>   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-&gt; «Передать результат в С».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IoC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подход: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Фреймворк вызывает твой код. Ты просто предоставляешь ему «кусочки» логики, а он сам решает, когда и в каком контексте их запустить. </a:t>
            </a:r>
          </a:p>
        </p:txBody>
      </p:sp>
    </p:spTree>
    <p:extLst>
      <p:ext uri="{BB962C8B-B14F-4D97-AF65-F5344CB8AC3E}">
        <p14:creationId xmlns:p14="http://schemas.microsoft.com/office/powerpoint/2010/main" val="4236115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256</Words>
  <Application>Microsoft Office PowerPoint</Application>
  <PresentationFormat>Широкоэкранный</PresentationFormat>
  <Paragraphs>27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admin</dc:creator>
  <cp:lastModifiedBy>admin</cp:lastModifiedBy>
  <cp:revision>8</cp:revision>
  <dcterms:created xsi:type="dcterms:W3CDTF">2026-04-26T11:53:18Z</dcterms:created>
  <dcterms:modified xsi:type="dcterms:W3CDTF">2026-04-27T18:35:52Z</dcterms:modified>
</cp:coreProperties>
</file>