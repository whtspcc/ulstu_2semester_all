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6CC5-3D07-4134-8586-0905F55EAF6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DD6E-EB52-4AEB-953F-6D6B165502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433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94DD6E-EB52-4AEB-953F-6D6B165502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80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46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52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50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77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46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53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58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5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510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20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77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F703D-7626-4935-9104-1F09DADF4023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16E69-5786-4057-822F-7B56ECD47B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94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49528" y="1684421"/>
            <a:ext cx="5743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Bell MT" panose="02020503060305020303" pitchFamily="18" charset="0"/>
                <a:cs typeface="Courier New" panose="02070309020205020404" pitchFamily="49" charset="0"/>
              </a:rPr>
              <a:t>Kerberos</a:t>
            </a:r>
            <a:endParaRPr lang="ru-R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Weniger Schwachstellen mit Kerberos Authentifizierung statt NTLM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805" y="2571202"/>
            <a:ext cx="5532521" cy="315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146632" y="5318875"/>
            <a:ext cx="185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Власенко Иван</a:t>
            </a:r>
          </a:p>
          <a:p>
            <a:r>
              <a:rPr lang="ru-RU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ПИбд-12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51095" y="6312568"/>
            <a:ext cx="291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988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240856" y="834190"/>
            <a:ext cx="4125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Что такое</a:t>
            </a:r>
            <a:r>
              <a:rPr lang="en-US" sz="2400" b="1" dirty="0" smtClean="0">
                <a:latin typeface="Bookman Old Style" panose="02050604050505020204" pitchFamily="18" charset="0"/>
              </a:rPr>
              <a:t> Kerberos</a:t>
            </a:r>
            <a:r>
              <a:rPr lang="ru-RU" sz="2400" b="1" dirty="0">
                <a:latin typeface="Bookman Old Style" panose="02050604050505020204" pitchFamily="18" charset="0"/>
              </a:rPr>
              <a:t>?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668379" y="178022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 smtClean="0">
                <a:latin typeface="Garamond" panose="02020404030301010803" pitchFamily="18" charset="0"/>
              </a:rPr>
              <a:t>Kerberos</a:t>
            </a:r>
            <a:r>
              <a:rPr lang="ru-RU" dirty="0" smtClean="0">
                <a:latin typeface="Garamond" panose="02020404030301010803" pitchFamily="18" charset="0"/>
              </a:rPr>
              <a:t> — это сетевой протокол аутентификации, который позволяет узлам, общающимся через незащищенную сеть, доказывать свою идентичность друг другу безопасным способом.</a:t>
            </a:r>
            <a:endParaRPr lang="ru-RU" dirty="0">
              <a:latin typeface="Garamond" panose="02020404030301010803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366084" y="3389899"/>
            <a:ext cx="60140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Идентификация: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«Я — Вася».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Аутентификация: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Подтверждение того, что вы действительно Вася (с помощью зашифрованных сообщений).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Авторизация: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Проверка, разрешено ли Васе читать конкретный файл.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Kerberos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отвечает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только за аутентификацию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72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82842" y="922421"/>
            <a:ext cx="8662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Зачем </a:t>
            </a:r>
            <a:r>
              <a:rPr lang="en-US" sz="2400" b="1" dirty="0" smtClean="0">
                <a:latin typeface="Bookman Old Style" panose="02050604050505020204" pitchFamily="18" charset="0"/>
              </a:rPr>
              <a:t>Kerberos</a:t>
            </a:r>
            <a:r>
              <a:rPr lang="ru-RU" sz="2400" b="1" dirty="0" smtClean="0">
                <a:latin typeface="Bookman Old Style" panose="02050604050505020204" pitchFamily="18" charset="0"/>
              </a:rPr>
              <a:t> нужен «в жизни»?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687052" y="2648088"/>
            <a:ext cx="71387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Garamond" panose="02020404030301010803" pitchFamily="18" charset="0"/>
              </a:rPr>
              <a:t>Основная задача в </a:t>
            </a:r>
            <a:r>
              <a:rPr lang="ru-RU" dirty="0" err="1" smtClean="0">
                <a:latin typeface="Garamond" panose="02020404030301010803" pitchFamily="18" charset="0"/>
              </a:rPr>
              <a:t>Windows</a:t>
            </a:r>
            <a:r>
              <a:rPr lang="ru-RU" dirty="0" smtClean="0">
                <a:latin typeface="Garamond" panose="02020404030301010803" pitchFamily="18" charset="0"/>
              </a:rPr>
              <a:t>-среде — создание </a:t>
            </a:r>
            <a:r>
              <a:rPr lang="ru-RU" b="1" dirty="0" err="1" smtClean="0">
                <a:latin typeface="Garamond" panose="02020404030301010803" pitchFamily="18" charset="0"/>
              </a:rPr>
              <a:t>Access</a:t>
            </a:r>
            <a:r>
              <a:rPr lang="ru-RU" b="1" dirty="0" smtClean="0">
                <a:latin typeface="Garamond" panose="02020404030301010803" pitchFamily="18" charset="0"/>
              </a:rPr>
              <a:t> </a:t>
            </a:r>
            <a:r>
              <a:rPr lang="ru-RU" b="1" dirty="0" err="1" smtClean="0">
                <a:latin typeface="Garamond" panose="02020404030301010803" pitchFamily="18" charset="0"/>
              </a:rPr>
              <a:t>Token</a:t>
            </a:r>
            <a:r>
              <a:rPr lang="ru-RU" dirty="0" smtClean="0">
                <a:latin typeface="Garamond" panose="02020404030301010803" pitchFamily="18" charset="0"/>
              </a:rPr>
              <a:t>. Когда одна программа (сервис) хочет выполнить действие от имени удаленного пользователя (например, прочитать файл), ей нужен </a:t>
            </a:r>
            <a:r>
              <a:rPr lang="ru-RU" dirty="0" err="1" smtClean="0">
                <a:latin typeface="Garamond" panose="02020404030301010803" pitchFamily="18" charset="0"/>
              </a:rPr>
              <a:t>токен</a:t>
            </a:r>
            <a:r>
              <a:rPr lang="ru-RU" dirty="0" smtClean="0">
                <a:latin typeface="Garamond" panose="02020404030301010803" pitchFamily="18" charset="0"/>
              </a:rPr>
              <a:t> этого пользователя. </a:t>
            </a:r>
            <a:r>
              <a:rPr lang="ru-RU" dirty="0" err="1" smtClean="0">
                <a:latin typeface="Garamond" panose="02020404030301010803" pitchFamily="18" charset="0"/>
              </a:rPr>
              <a:t>Kerberos</a:t>
            </a:r>
            <a:r>
              <a:rPr lang="ru-RU" dirty="0" smtClean="0">
                <a:latin typeface="Garamond" panose="02020404030301010803" pitchFamily="18" charset="0"/>
              </a:rPr>
              <a:t> — это транспорт, который позволяет безопасно передать данные для создания такого </a:t>
            </a:r>
            <a:r>
              <a:rPr lang="ru-RU" dirty="0" err="1" smtClean="0">
                <a:latin typeface="Garamond" panose="02020404030301010803" pitchFamily="18" charset="0"/>
              </a:rPr>
              <a:t>токена</a:t>
            </a:r>
            <a:r>
              <a:rPr lang="ru-RU" dirty="0" smtClean="0">
                <a:latin typeface="Garamond" panose="02020404030301010803" pitchFamily="18" charset="0"/>
              </a:rPr>
              <a:t>.</a:t>
            </a:r>
            <a:endParaRPr lang="ru-RU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06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9516" y="810126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Механизм работы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6432" y="3305582"/>
            <a:ext cx="631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>
                <a:latin typeface="Garamond" panose="02020404030301010803" pitchFamily="18" charset="0"/>
              </a:rPr>
              <a:t>Начальный вход (</a:t>
            </a:r>
            <a:r>
              <a:rPr lang="en-US" dirty="0" smtClean="0">
                <a:latin typeface="Garamond" panose="02020404030301010803" pitchFamily="18" charset="0"/>
              </a:rPr>
              <a:t>AS-REQ / AS-REP)</a:t>
            </a:r>
          </a:p>
          <a:p>
            <a:pPr marL="342900" indent="-342900">
              <a:buAutoNum type="arabicPeriod"/>
            </a:pPr>
            <a:r>
              <a:rPr lang="ru-RU" dirty="0" smtClean="0">
                <a:latin typeface="Garamond" panose="02020404030301010803" pitchFamily="18" charset="0"/>
              </a:rPr>
              <a:t>Запрос доступа к сервису (</a:t>
            </a:r>
            <a:r>
              <a:rPr lang="en-US" dirty="0" smtClean="0">
                <a:latin typeface="Garamond" panose="02020404030301010803" pitchFamily="18" charset="0"/>
              </a:rPr>
              <a:t>TGS-REQ / TGS-REP)</a:t>
            </a:r>
          </a:p>
          <a:p>
            <a:pPr marL="342900" indent="-342900">
              <a:buAutoNum type="arabicPeriod"/>
            </a:pPr>
            <a:r>
              <a:rPr lang="ru-RU" dirty="0" smtClean="0">
                <a:latin typeface="Garamond" panose="02020404030301010803" pitchFamily="18" charset="0"/>
              </a:rPr>
              <a:t>Аутентификация в сервисе (</a:t>
            </a:r>
            <a:r>
              <a:rPr lang="en-US" dirty="0" smtClean="0">
                <a:latin typeface="Garamond" panose="02020404030301010803" pitchFamily="18" charset="0"/>
              </a:rPr>
              <a:t>AP-REQ)</a:t>
            </a:r>
            <a:endParaRPr lang="ru-RU" dirty="0">
              <a:latin typeface="Garamond" panose="02020404030301010803" pitchFamily="18" charset="0"/>
            </a:endParaRPr>
          </a:p>
        </p:txBody>
      </p:sp>
      <p:pic>
        <p:nvPicPr>
          <p:cNvPr id="3074" name="Picture 2" descr="MIT Kerberos Consortium - Protocol Tutor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916" y="2190656"/>
            <a:ext cx="4667187" cy="389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72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6905" y="770021"/>
            <a:ext cx="549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Важные технические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инсайты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92968" y="1804736"/>
            <a:ext cx="7387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Garamond" panose="02020404030301010803" pitchFamily="18" charset="0"/>
              </a:rPr>
              <a:t>В современном </a:t>
            </a:r>
            <a:r>
              <a:rPr lang="ru-RU" dirty="0" err="1">
                <a:latin typeface="Garamond" panose="02020404030301010803" pitchFamily="18" charset="0"/>
              </a:rPr>
              <a:t>Kerberos</a:t>
            </a:r>
            <a:r>
              <a:rPr lang="ru-RU" dirty="0">
                <a:latin typeface="Garamond" panose="02020404030301010803" pitchFamily="18" charset="0"/>
              </a:rPr>
              <a:t> используется стандарт </a:t>
            </a:r>
            <a:r>
              <a:rPr lang="ru-RU" b="1" dirty="0">
                <a:latin typeface="Garamond" panose="02020404030301010803" pitchFamily="18" charset="0"/>
              </a:rPr>
              <a:t>AES</a:t>
            </a:r>
            <a:r>
              <a:rPr lang="ru-RU" dirty="0">
                <a:latin typeface="Garamond" panose="02020404030301010803" pitchFamily="18" charset="0"/>
              </a:rPr>
              <a:t> (128 или 256 бит) с применением </a:t>
            </a:r>
            <a:r>
              <a:rPr lang="ru-RU" b="1" dirty="0">
                <a:latin typeface="Garamond" panose="02020404030301010803" pitchFamily="18" charset="0"/>
              </a:rPr>
              <a:t>HMAC</a:t>
            </a:r>
            <a:r>
              <a:rPr lang="ru-RU" dirty="0">
                <a:latin typeface="Garamond" panose="02020404030301010803" pitchFamily="18" charset="0"/>
              </a:rPr>
              <a:t> для обеспечения целостности данных. Ключевой особенностью является использование </a:t>
            </a:r>
            <a:r>
              <a:rPr lang="ru-RU" b="1" dirty="0" err="1">
                <a:latin typeface="Garamond" panose="02020404030301010803" pitchFamily="18" charset="0"/>
              </a:rPr>
              <a:t>Key</a:t>
            </a:r>
            <a:r>
              <a:rPr lang="ru-RU" b="1" dirty="0">
                <a:latin typeface="Garamond" panose="02020404030301010803" pitchFamily="18" charset="0"/>
              </a:rPr>
              <a:t> </a:t>
            </a:r>
            <a:r>
              <a:rPr lang="ru-RU" b="1" dirty="0" err="1">
                <a:latin typeface="Garamond" panose="02020404030301010803" pitchFamily="18" charset="0"/>
              </a:rPr>
              <a:t>Usage</a:t>
            </a:r>
            <a:r>
              <a:rPr lang="ru-RU" b="1" dirty="0">
                <a:latin typeface="Garamond" panose="02020404030301010803" pitchFamily="18" charset="0"/>
              </a:rPr>
              <a:t> </a:t>
            </a:r>
            <a:r>
              <a:rPr lang="ru-RU" b="1" dirty="0" err="1">
                <a:latin typeface="Garamond" panose="02020404030301010803" pitchFamily="18" charset="0"/>
              </a:rPr>
              <a:t>Numbers</a:t>
            </a:r>
            <a:r>
              <a:rPr lang="ru-RU" dirty="0">
                <a:latin typeface="Garamond" panose="02020404030301010803" pitchFamily="18" charset="0"/>
              </a:rPr>
              <a:t> — это специальные константы, которые предотвращают определенные виды атак.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2368" y="3533716"/>
            <a:ext cx="6737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Garamond" panose="02020404030301010803" pitchFamily="18" charset="0"/>
              </a:rPr>
              <a:t>Работает на протоколе </a:t>
            </a:r>
            <a:r>
              <a:rPr lang="en-US" dirty="0" smtClean="0">
                <a:latin typeface="Garamond" panose="02020404030301010803" pitchFamily="18" charset="0"/>
              </a:rPr>
              <a:t>UDP</a:t>
            </a:r>
            <a:r>
              <a:rPr lang="ru-RU" dirty="0" smtClean="0">
                <a:latin typeface="Garamond" panose="02020404030301010803" pitchFamily="18" charset="0"/>
              </a:rPr>
              <a:t> по умолчанию. Но часто сообщения </a:t>
            </a:r>
            <a:r>
              <a:rPr lang="en-US" dirty="0" smtClean="0">
                <a:latin typeface="Garamond" panose="02020404030301010803" pitchFamily="18" charset="0"/>
              </a:rPr>
              <a:t>Kerberos</a:t>
            </a:r>
            <a:r>
              <a:rPr lang="ru-RU" dirty="0" smtClean="0">
                <a:latin typeface="Garamond" panose="02020404030301010803" pitchFamily="18" charset="0"/>
              </a:rPr>
              <a:t> превышают стандартный максимальный размер пакета (1500 байт), тогда он обязан переключиться на </a:t>
            </a:r>
            <a:r>
              <a:rPr lang="en-US" dirty="0" smtClean="0">
                <a:latin typeface="Garamond" panose="02020404030301010803" pitchFamily="18" charset="0"/>
              </a:rPr>
              <a:t>TCP</a:t>
            </a:r>
            <a:r>
              <a:rPr lang="ru-RU" dirty="0" smtClean="0">
                <a:latin typeface="Garamond" panose="02020404030301010803" pitchFamily="18" charset="0"/>
              </a:rPr>
              <a:t>.</a:t>
            </a:r>
            <a:endParaRPr lang="ru-RU" dirty="0">
              <a:latin typeface="Garamond" panose="02020404030301010803" pitchFamily="18" charset="0"/>
            </a:endParaRPr>
          </a:p>
        </p:txBody>
      </p:sp>
      <p:pic>
        <p:nvPicPr>
          <p:cNvPr id="1026" name="Picture 2" descr="Introductory Guide to Tuning Your TCP and UDP Performan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60" y="3733145"/>
            <a:ext cx="4442460" cy="239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63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habrastorage.org/r/w1560/webt/7e/td/jq/7etdjqnddlpk3uumy36--m2hdw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633" y="337113"/>
            <a:ext cx="3824604" cy="242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 rot="10800000" flipV="1">
            <a:off x="2015234" y="3394616"/>
            <a:ext cx="75458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JDBC: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Подключение к БД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Postgres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/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Oracle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) без пароля в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конфигах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— просто по билету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Kerberos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Hadoop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/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Big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Data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Почти все экосистемы больших данных защищены через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Kerberos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Spring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Security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Kerberos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Модуль для создания сайтов, в которые пользователи входят автоматически («сквозная аутентификация»), просто открыв браузер в корпоративной сети.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4737" y="1178846"/>
            <a:ext cx="5454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Для чего используется в </a:t>
            </a:r>
            <a:r>
              <a:rPr lang="en-US" sz="2400" dirty="0" smtClean="0">
                <a:latin typeface="Bookman Old Style" panose="02050604050505020204" pitchFamily="18" charset="0"/>
              </a:rPr>
              <a:t>Java</a:t>
            </a:r>
            <a:r>
              <a:rPr lang="ru-RU" sz="2400" dirty="0" smtClean="0">
                <a:latin typeface="Bookman Old Style" panose="02050604050505020204" pitchFamily="18" charset="0"/>
              </a:rPr>
              <a:t> ?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7942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284</Words>
  <Application>Microsoft Office PowerPoint</Application>
  <PresentationFormat>Широкоэкранный</PresentationFormat>
  <Paragraphs>25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Bell MT</vt:lpstr>
      <vt:lpstr>Bookman Old Style</vt:lpstr>
      <vt:lpstr>Calibri</vt:lpstr>
      <vt:lpstr>Calibri Light</vt:lpstr>
      <vt:lpstr>Courier New</vt:lpstr>
      <vt:lpstr>Garamond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9</cp:revision>
  <dcterms:created xsi:type="dcterms:W3CDTF">2026-04-29T08:05:46Z</dcterms:created>
  <dcterms:modified xsi:type="dcterms:W3CDTF">2026-05-02T07:07:14Z</dcterms:modified>
</cp:coreProperties>
</file>