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2083ED-AF4D-481D-ACEB-ED6BD3688D7A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C66BF-0E7B-41F3-8E36-175988EA30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23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AFF9-2094-4C8C-813C-9A2941B00E4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19D23-34EB-4F2A-B59A-B0C46E26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349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AFF9-2094-4C8C-813C-9A2941B00E4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19D23-34EB-4F2A-B59A-B0C46E26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082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AFF9-2094-4C8C-813C-9A2941B00E4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19D23-34EB-4F2A-B59A-B0C46E26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362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AFF9-2094-4C8C-813C-9A2941B00E4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19D23-34EB-4F2A-B59A-B0C46E26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840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AFF9-2094-4C8C-813C-9A2941B00E4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19D23-34EB-4F2A-B59A-B0C46E26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04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AFF9-2094-4C8C-813C-9A2941B00E4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19D23-34EB-4F2A-B59A-B0C46E26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5338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AFF9-2094-4C8C-813C-9A2941B00E4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19D23-34EB-4F2A-B59A-B0C46E26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74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AFF9-2094-4C8C-813C-9A2941B00E4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19D23-34EB-4F2A-B59A-B0C46E26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55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AFF9-2094-4C8C-813C-9A2941B00E4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19D23-34EB-4F2A-B59A-B0C46E26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157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AFF9-2094-4C8C-813C-9A2941B00E4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19D23-34EB-4F2A-B59A-B0C46E26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7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AFF9-2094-4C8C-813C-9A2941B00E4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19D23-34EB-4F2A-B59A-B0C46E26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270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1AFF9-2094-4C8C-813C-9A2941B00E4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19D23-34EB-4F2A-B59A-B0C46E26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83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23937" y="2326106"/>
            <a:ext cx="648101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Georgia" panose="02040502050405020303" pitchFamily="18" charset="0"/>
              </a:rPr>
              <a:t>Доклад</a:t>
            </a:r>
          </a:p>
          <a:p>
            <a:pPr algn="ctr"/>
            <a:r>
              <a:rPr lang="ru-RU" dirty="0" smtClean="0">
                <a:latin typeface="Georgia" panose="02040502050405020303" pitchFamily="18" charset="0"/>
              </a:rPr>
              <a:t>На тему</a:t>
            </a:r>
          </a:p>
          <a:p>
            <a:pPr algn="ctr"/>
            <a:r>
              <a:rPr lang="ru-RU" sz="2000" dirty="0" smtClean="0">
                <a:latin typeface="Georgia" panose="02040502050405020303" pitchFamily="18" charset="0"/>
              </a:rPr>
              <a:t>«Характеристика индекса человеческого развития и сравнение ИЧР за 2025 год (Россия и страны мира)»</a:t>
            </a:r>
            <a:endParaRPr lang="ru-RU" sz="2000" dirty="0">
              <a:latin typeface="Georgia" panose="020405020504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9504947" y="5013158"/>
            <a:ext cx="23261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+mj-lt"/>
              </a:rPr>
              <a:t>Выполнил:</a:t>
            </a:r>
          </a:p>
          <a:p>
            <a:r>
              <a:rPr lang="ru-RU" sz="1400" dirty="0" smtClean="0">
                <a:latin typeface="+mj-lt"/>
              </a:rPr>
              <a:t>Студент 1 курса ФИСТ</a:t>
            </a:r>
          </a:p>
          <a:p>
            <a:r>
              <a:rPr lang="ru-RU" sz="1400" dirty="0" smtClean="0">
                <a:latin typeface="+mj-lt"/>
              </a:rPr>
              <a:t>гр. ПИбд-12 Власенко И. 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8169" y="6055894"/>
            <a:ext cx="2342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Georgia" panose="02040502050405020303" pitchFamily="18" charset="0"/>
              </a:rPr>
              <a:t>Ульяновск, 2026</a:t>
            </a: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912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24525" y="1521404"/>
            <a:ext cx="70745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Georgia" panose="02040502050405020303" pitchFamily="18" charset="0"/>
              </a:rPr>
              <a:t>Индекс человеческого развития (ИЧР)</a:t>
            </a:r>
            <a:r>
              <a:rPr lang="ru-RU" dirty="0" smtClean="0">
                <a:latin typeface="Georgia" panose="02040502050405020303" pitchFamily="18" charset="0"/>
              </a:rPr>
              <a:t> — это интегральный показатель, рассчитываемый ежегодно Программой развития ООН (ПРООН) для оценки качества жизни, грамотности и долголетия граждан в разных странах.</a:t>
            </a:r>
            <a:endParaRPr lang="ru-RU" dirty="0">
              <a:latin typeface="Georgia" panose="02040502050405020303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590672" y="377317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>
                <a:latin typeface="Georgia" panose="02040502050405020303" pitchFamily="18" charset="0"/>
              </a:rPr>
              <a:t>Согласно Докладу о человеческом развитии на </a:t>
            </a:r>
            <a:r>
              <a:rPr lang="ru-RU" b="1" dirty="0" smtClean="0">
                <a:latin typeface="Georgia" panose="02040502050405020303" pitchFamily="18" charset="0"/>
              </a:rPr>
              <a:t>2025 год</a:t>
            </a:r>
            <a:r>
              <a:rPr lang="ru-RU" dirty="0" smtClean="0">
                <a:latin typeface="Georgia" panose="02040502050405020303" pitchFamily="18" charset="0"/>
              </a:rPr>
              <a:t> (базирующемуся на уточненных статистических данных за 2023–2024 годы), основное внимание уделяется влиянию технологий и искусственного интеллекта на возможности людей.</a:t>
            </a: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824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478504" y="1835277"/>
            <a:ext cx="818949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Georgia" panose="02040502050405020303" pitchFamily="18" charset="0"/>
              </a:rPr>
              <a:t>Индекс строится на основе среднего геометрического трех ключевых измерений:</a:t>
            </a:r>
          </a:p>
          <a:p>
            <a:endParaRPr lang="ru-RU" dirty="0" smtClean="0">
              <a:latin typeface="Georgia" panose="02040502050405020303" pitchFamily="18" charset="0"/>
            </a:endParaRPr>
          </a:p>
          <a:p>
            <a:pPr>
              <a:buFont typeface="+mj-lt"/>
              <a:buAutoNum type="arabicPeriod"/>
            </a:pPr>
            <a:r>
              <a:rPr lang="ru-RU" b="1" dirty="0" smtClean="0">
                <a:latin typeface="Georgia" panose="02040502050405020303" pitchFamily="18" charset="0"/>
              </a:rPr>
              <a:t>Долголетие (Здоровье):</a:t>
            </a:r>
            <a:r>
              <a:rPr lang="ru-RU" dirty="0" smtClean="0">
                <a:latin typeface="Georgia" panose="02040502050405020303" pitchFamily="18" charset="0"/>
              </a:rPr>
              <a:t> Оценивается через среднюю ожидаемую продолжительность жизни при рождении.</a:t>
            </a:r>
          </a:p>
          <a:p>
            <a:pPr>
              <a:buFont typeface="+mj-lt"/>
              <a:buAutoNum type="arabicPeriod"/>
            </a:pPr>
            <a:endParaRPr lang="ru-RU" dirty="0" smtClean="0">
              <a:latin typeface="Georgia" panose="02040502050405020303" pitchFamily="18" charset="0"/>
            </a:endParaRPr>
          </a:p>
          <a:p>
            <a:pPr>
              <a:buFont typeface="+mj-lt"/>
              <a:buAutoNum type="arabicPeriod"/>
            </a:pPr>
            <a:r>
              <a:rPr lang="ru-RU" b="1" dirty="0" smtClean="0">
                <a:latin typeface="Georgia" panose="02040502050405020303" pitchFamily="18" charset="0"/>
              </a:rPr>
              <a:t>Образование:</a:t>
            </a:r>
            <a:r>
              <a:rPr lang="ru-RU" dirty="0" smtClean="0">
                <a:latin typeface="Georgia" panose="02040502050405020303" pitchFamily="18" charset="0"/>
              </a:rPr>
              <a:t> Рассчитывается как средняя продолжительность обучения (уже полученное образование взрослыми) и ожидаемая продолжительность обучения (для детей, идущих в школу).</a:t>
            </a:r>
          </a:p>
          <a:p>
            <a:pPr>
              <a:buFont typeface="+mj-lt"/>
              <a:buAutoNum type="arabicPeriod"/>
            </a:pPr>
            <a:endParaRPr lang="ru-RU" dirty="0" smtClean="0">
              <a:latin typeface="Georgia" panose="02040502050405020303" pitchFamily="18" charset="0"/>
            </a:endParaRPr>
          </a:p>
          <a:p>
            <a:pPr>
              <a:buFont typeface="+mj-lt"/>
              <a:buAutoNum type="arabicPeriod"/>
            </a:pPr>
            <a:r>
              <a:rPr lang="ru-RU" b="1" dirty="0" smtClean="0">
                <a:latin typeface="Georgia" panose="02040502050405020303" pitchFamily="18" charset="0"/>
              </a:rPr>
              <a:t>Уровень жизни:</a:t>
            </a:r>
            <a:r>
              <a:rPr lang="ru-RU" dirty="0" smtClean="0">
                <a:latin typeface="Georgia" panose="02040502050405020303" pitchFamily="18" charset="0"/>
              </a:rPr>
              <a:t> Измеряется валовым национальным доходом (ВНД) на душу населения по паритету покупательной способности (ППС) в долларах США.</a:t>
            </a:r>
            <a:endParaRPr lang="ru-RU" dirty="0">
              <a:latin typeface="Georgia" panose="020405020504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5031" y="689811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Georgia" panose="02040502050405020303" pitchFamily="18" charset="0"/>
              </a:rPr>
              <a:t>Характеристика ИЧР</a:t>
            </a:r>
            <a:endParaRPr lang="ru-RU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043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1177" y="697831"/>
            <a:ext cx="7106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Georgia" panose="02040502050405020303" pitchFamily="18" charset="0"/>
              </a:rPr>
              <a:t>Сравнение ИЧР за 2025 год: Россия и мир</a:t>
            </a:r>
            <a:endParaRPr lang="ru-RU" sz="2400" dirty="0">
              <a:latin typeface="Georgia" panose="02040502050405020303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526" y="1536333"/>
            <a:ext cx="9640553" cy="42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303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energyprom.kz/wp-content/uploads/2025/11/111-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62" y="240632"/>
            <a:ext cx="5634490" cy="639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652084" y="540694"/>
            <a:ext cx="362551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Georgia" panose="02040502050405020303" pitchFamily="18" charset="0"/>
              </a:rPr>
              <a:t>В 2025 году глобальный индекс демонстрирует восстановление после </a:t>
            </a:r>
            <a:r>
              <a:rPr lang="ru-RU" dirty="0" err="1" smtClean="0">
                <a:latin typeface="Georgia" panose="02040502050405020303" pitchFamily="18" charset="0"/>
              </a:rPr>
              <a:t>пандемийного</a:t>
            </a:r>
            <a:r>
              <a:rPr lang="ru-RU" dirty="0" smtClean="0">
                <a:latin typeface="Georgia" panose="02040502050405020303" pitchFamily="18" charset="0"/>
              </a:rPr>
              <a:t> кризиса, однако ООН отмечает опасный рост неравенства: богатые страны достигают рекордных значений, в то время как беднейшие регионы </a:t>
            </a:r>
            <a:r>
              <a:rPr lang="ru-RU" dirty="0" err="1" smtClean="0">
                <a:latin typeface="Georgia" panose="02040502050405020303" pitchFamily="18" charset="0"/>
              </a:rPr>
              <a:t>стагнируют</a:t>
            </a:r>
            <a:r>
              <a:rPr lang="ru-RU" dirty="0" smtClean="0">
                <a:latin typeface="Georgia" panose="02040502050405020303" pitchFamily="18" charset="0"/>
              </a:rPr>
              <a:t>.</a:t>
            </a:r>
            <a:endParaRPr lang="ru-RU" dirty="0">
              <a:latin typeface="Georgia" panose="02040502050405020303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652084" y="3701534"/>
            <a:ext cx="305187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Georgia" panose="02040502050405020303" pitchFamily="18" charset="0"/>
              </a:rPr>
              <a:t>Россия занимает </a:t>
            </a:r>
            <a:r>
              <a:rPr lang="ru-RU" b="1" dirty="0" smtClean="0">
                <a:latin typeface="Georgia" panose="02040502050405020303" pitchFamily="18" charset="0"/>
              </a:rPr>
              <a:t>64-е место</a:t>
            </a:r>
            <a:r>
              <a:rPr lang="ru-RU" dirty="0" smtClean="0">
                <a:latin typeface="Georgia" panose="02040502050405020303" pitchFamily="18" charset="0"/>
              </a:rPr>
              <a:t> в глобальном списке. Значение индекса: 0,862. Страна входит в группу стран с </a:t>
            </a:r>
            <a:r>
              <a:rPr lang="ru-RU" b="1" dirty="0" smtClean="0">
                <a:latin typeface="Georgia" panose="02040502050405020303" pitchFamily="18" charset="0"/>
              </a:rPr>
              <a:t>очень высоким</a:t>
            </a:r>
            <a:r>
              <a:rPr lang="ru-RU" dirty="0" smtClean="0">
                <a:latin typeface="Georgia" panose="02040502050405020303" pitchFamily="18" charset="0"/>
              </a:rPr>
              <a:t> уровнем человеческого развития (порог группы начинается с 0,800).</a:t>
            </a: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776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https://energyprom.kz/wp-content/uploads/2025/11/221-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01" y="1549317"/>
            <a:ext cx="6525961" cy="364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7732294" y="557788"/>
            <a:ext cx="362551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Georgia" panose="02040502050405020303" pitchFamily="18" charset="0"/>
              </a:rPr>
              <a:t>Р</a:t>
            </a:r>
            <a:r>
              <a:rPr lang="ru-RU" b="0" i="0" dirty="0" smtClean="0">
                <a:effectLst/>
                <a:latin typeface="Georgia" panose="02040502050405020303" pitchFamily="18" charset="0"/>
              </a:rPr>
              <a:t>ассмотрим динамику ИЧР за последние 33 года в пяти странах — Казахстане, России, Узбекистане, Китае и США. Оказалось, что самых впечатляющих результатов за эти годы добилась Поднебесная. Движение этой страны в улучшении условий для развития было поступательным и впечатляющим. С индекса 0,491 в 1990 году, характерного для отстающих стран, Китай достиг уровня 0,955 по итогам 2023 года и обогнал США. Штаты за эти годы демонстрировали рост, однако он был очень умеренным, без резких скачков.</a:t>
            </a: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473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energyprom.kz/wp-content/uploads/2025/11/331-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083" y="287046"/>
            <a:ext cx="4868780" cy="6218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8768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332</Words>
  <Application>Microsoft Office PowerPoint</Application>
  <PresentationFormat>Широкоэкранный</PresentationFormat>
  <Paragraphs>21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Georgia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4</cp:revision>
  <dcterms:created xsi:type="dcterms:W3CDTF">2026-04-26T18:01:02Z</dcterms:created>
  <dcterms:modified xsi:type="dcterms:W3CDTF">2026-04-26T18:30:31Z</dcterms:modified>
</cp:coreProperties>
</file>